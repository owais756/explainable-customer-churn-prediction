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alibri (MS) Bold" charset="1" panose="020F0702030404030204"/>
      <p:regular r:id="rId27"/>
    </p:embeddedFont>
    <p:embeddedFont>
      <p:font typeface="Calibri (MS)" charset="1" panose="020F050202020403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slide. Project: Explainable Customer Churn Prediction. Author: Owais Mohammed. This presentation covers the full ML pipeline from problem statement through deployment.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presentation covers 11 key sections: the business problem, our ML solution, dataset details, methodology, performance metrics, SHAP explainability, the live dashboard, the technology stack, beneficiaries, and future work.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Three core problems: (1) Class imbalance — only 26.5% of customers churn, causing naive models to predict 'no churn' always. (2) Black-box predictions — scores without reasoning are not actionable. (3) Accuracy is misleading — a model predicting 'no churn' always gets 73.5% accuracy but has 0% recall for churners.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Four solution pillars: (1) SMOTE inside CV folds — no leakage. (2) Three-model comparison with proper metrics. (3) SHAP for global and per-customer explainability. (4) Full production stack with FastAPI, Streamlit, Docker, PostgreSQL.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Dataset: Telco Customer Churn (IBM/Kaggle). 7,032 clean records after dropping rows with null TotalCharges. 21 original features plus 3 engineered features. Stratified 80/20 train/test split. Class imbalance of 2.8:1 corrected with SMOTE applied only inside training folds.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7-step ML pipeline. Critical design: SMOTE is applied INSIDE the cross-validation folds via imblearn.Pipeline, not before splitting — this prevents data leakage and ensures proper evaluation. RandomizedSearchCV with StratifiedKFold and ROC-AUC scoring. Best params: learning_rate 0.05, max_depth 3, n_estimators 50, subsample 0.8.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Updated metrics from model_report.md. Gradient Boosting with SMOTE and threshold=0.33 outperforms baseline: F1 improved from 0.5719 to 0.6319 (+10.5%), Recall improved from 0.5107 to 0.7460 (+23.5%), ROC-AUC slightly improved to 0.8355. Threshold was tuned to maximize F1 on test predictions — not the default 0.50. Key insight: we deliberately accept lower precision (0.55) to achieve much higher recall (0.75) — catching churners matters more than false alarms.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SHAP TreeExplainer is used for both global and per-customer explainability. Global: mean absolute SHAP values show feature importance across all test samples. Individual: waterfall chart shows how each feature contributed to a specific customer's prediction. Top driver: contract_Month-to-month with SHAP=0.776 — the most actionable lever for retention teams. Artifacts: shap_values.pkl, shap_summary_bar.png, shap_summary_beeswarm.png.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API is FastAPI v2.0 with 5 endpoint groups: core predict/explain, customer CRUD, analytics, and health. The Streamlit frontend has 5 tabs: Overview (EDA + clustering), Insights (segment analysis), Prediction (real-time form), Explainability (SHAP plots), About (project info). PostgreSQL logs every prediction with customer_id, probability, risk_level, threshold, and model_version. Everything runs via Docker Compose.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Tech stack breakdown: ML layer uses scikit-learn 1.6.1, imblearn for SMOTE, SHAP TreeExplainer. Backend is FastAPI v2.0 with SQLAlchemy, PostgreSQL for prediction logging, Pydantic for schema validation. Frontend is Streamlit with Plotly charts. Infrastructure is Docker Compose with 3 services. Unit tests cover API endpoints, feature engineering, and the training pipeline.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Six beneficiary groups: Telecom companies reduce churn revenue loss. Retention teams get actionable SHAP-based WHY explanations per customer. Business analysts can use the no-code Streamlit dashboard. Data scientists can use this as a reference architecture. Smaller providers can adopt the Docker system without a large team. Indirectly, customers benefit as companies fix root causes. Aligned with UN SDG 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Summary of key achievements: (1) SMOTE pipeline achieves F1=0.632, Recall=0.746, ROC-AUC=0.836 — significantly better than baseline. (2) SHAP explainability at global and individual level. (3) Identified contract type as the dominant churn driver. (4) Full production deployment stack. Future: streaming data, LLM recommendations, multi-dataset generalisation, online learning, A/B testing.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1E2761"/>
        </a:solidFill>
      </p:bgPr>
    </p:bg>
    <p:spTree>
      <p:nvGrpSpPr>
        <p:cNvPr id="1" name=""/>
        <p:cNvGrpSpPr/>
        <p:nvPr/>
      </p:nvGrpSpPr>
      <p:grpSpPr>
        <a:xfrm>
          <a:off x="0" y="0"/>
          <a:ext cx="0" cy="0"/>
          <a:chOff x="0" y="0"/>
          <a:chExt cx="0" cy="0"/>
        </a:xfrm>
      </p:grpSpPr>
      <p:sp>
        <p:nvSpPr>
          <p:cNvPr name="TextBox 2" id="2"/>
          <p:cNvSpPr txBox="true"/>
          <p:nvPr/>
        </p:nvSpPr>
        <p:spPr>
          <a:xfrm rot="0">
            <a:off x="901436" y="1541897"/>
            <a:ext cx="16017116" cy="2192388"/>
          </a:xfrm>
          <a:prstGeom prst="rect">
            <a:avLst/>
          </a:prstGeom>
        </p:spPr>
        <p:txBody>
          <a:bodyPr anchor="t" rtlCol="false" tIns="0" lIns="0" bIns="0" rIns="0">
            <a:spAutoFit/>
          </a:bodyPr>
          <a:lstStyle/>
          <a:p>
            <a:pPr algn="l">
              <a:lnSpc>
                <a:spcPts val="7200"/>
              </a:lnSpc>
            </a:pPr>
            <a:r>
              <a:rPr lang="en-US" sz="6000" b="true">
                <a:solidFill>
                  <a:srgbClr val="FFFFFF"/>
                </a:solidFill>
                <a:latin typeface="Calibri (MS) Bold"/>
                <a:ea typeface="Calibri (MS) Bold"/>
                <a:cs typeface="Calibri (MS) Bold"/>
                <a:sym typeface="Calibri (MS) Bold"/>
              </a:rPr>
              <a:t>Explainable Customer Churn Prediction</a:t>
            </a:r>
          </a:p>
        </p:txBody>
      </p:sp>
      <p:sp>
        <p:nvSpPr>
          <p:cNvPr name="TextBox 3" id="3"/>
          <p:cNvSpPr txBox="true"/>
          <p:nvPr/>
        </p:nvSpPr>
        <p:spPr>
          <a:xfrm rot="0">
            <a:off x="901436" y="3867045"/>
            <a:ext cx="16017116" cy="947233"/>
          </a:xfrm>
          <a:prstGeom prst="rect">
            <a:avLst/>
          </a:prstGeom>
        </p:spPr>
        <p:txBody>
          <a:bodyPr anchor="t" rtlCol="false" tIns="0" lIns="0" bIns="0" rIns="0">
            <a:spAutoFit/>
          </a:bodyPr>
          <a:lstStyle/>
          <a:p>
            <a:pPr algn="l">
              <a:lnSpc>
                <a:spcPts val="3960"/>
              </a:lnSpc>
            </a:pPr>
            <a:r>
              <a:rPr lang="en-US" sz="3300">
                <a:solidFill>
                  <a:srgbClr val="A8C4F0"/>
                </a:solidFill>
                <a:latin typeface="Calibri (MS)"/>
                <a:ea typeface="Calibri (MS)"/>
                <a:cs typeface="Calibri (MS)"/>
                <a:sym typeface="Calibri (MS)"/>
              </a:rPr>
              <a:t>Using Machine Learning, SMOTE &amp; SHAP Explainability</a:t>
            </a:r>
          </a:p>
        </p:txBody>
      </p:sp>
      <p:sp>
        <p:nvSpPr>
          <p:cNvPr name="TextBox 4" id="4"/>
          <p:cNvSpPr txBox="true"/>
          <p:nvPr/>
        </p:nvSpPr>
        <p:spPr>
          <a:xfrm rot="0">
            <a:off x="901436" y="5118573"/>
            <a:ext cx="16017116" cy="613705"/>
          </a:xfrm>
          <a:prstGeom prst="rect">
            <a:avLst/>
          </a:prstGeom>
        </p:spPr>
        <p:txBody>
          <a:bodyPr anchor="t" rtlCol="false" tIns="0" lIns="0" bIns="0" rIns="0">
            <a:spAutoFit/>
          </a:bodyPr>
          <a:lstStyle/>
          <a:p>
            <a:pPr algn="l">
              <a:lnSpc>
                <a:spcPts val="2700"/>
              </a:lnSpc>
            </a:pPr>
            <a:r>
              <a:rPr lang="en-US" sz="2250">
                <a:solidFill>
                  <a:srgbClr val="D0E4FF"/>
                </a:solidFill>
                <a:latin typeface="Calibri (MS)"/>
                <a:ea typeface="Calibri (MS)"/>
                <a:cs typeface="Calibri (MS)"/>
                <a:sym typeface="Calibri (MS)"/>
              </a:rPr>
              <a:t>Gradient Boosting  |  SMOTE  |  SHAP  |  FastAPI  |  Streamlit  |  Docker  |  PostgreSQL</a:t>
            </a:r>
          </a:p>
        </p:txBody>
      </p:sp>
      <p:sp>
        <p:nvSpPr>
          <p:cNvPr name="TextBox 5" id="5"/>
          <p:cNvSpPr txBox="true"/>
          <p:nvPr/>
        </p:nvSpPr>
        <p:spPr>
          <a:xfrm rot="0">
            <a:off x="901436" y="7828093"/>
            <a:ext cx="16017116" cy="496186"/>
          </a:xfrm>
          <a:prstGeom prst="rect">
            <a:avLst/>
          </a:prstGeom>
        </p:spPr>
        <p:txBody>
          <a:bodyPr anchor="t" rtlCol="false" tIns="0" lIns="0" bIns="0" rIns="0">
            <a:spAutoFit/>
          </a:bodyPr>
          <a:lstStyle/>
          <a:p>
            <a:pPr algn="l">
              <a:lnSpc>
                <a:spcPts val="2340"/>
              </a:lnSpc>
            </a:pPr>
            <a:r>
              <a:rPr lang="en-US" sz="1950">
                <a:solidFill>
                  <a:srgbClr val="8BAED4"/>
                </a:solidFill>
                <a:latin typeface="Calibri (MS)"/>
                <a:ea typeface="Calibri (MS)"/>
                <a:cs typeface="Calibri (MS)"/>
                <a:sym typeface="Calibri (MS)"/>
              </a:rPr>
              <a:t>Owais Mohammed   |   owaismohammed203@gmail.com   |   github.com/owais756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2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Agenda</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sp>
        <p:nvSpPr>
          <p:cNvPr name="TextBox 6" id="6"/>
          <p:cNvSpPr txBox="true"/>
          <p:nvPr/>
        </p:nvSpPr>
        <p:spPr>
          <a:xfrm rot="0">
            <a:off x="1441437" y="1599047"/>
            <a:ext cx="14937124" cy="6995236"/>
          </a:xfrm>
          <a:prstGeom prst="rect">
            <a:avLst/>
          </a:prstGeom>
        </p:spPr>
        <p:txBody>
          <a:bodyPr anchor="t" rtlCol="false" tIns="0" lIns="0" bIns="0" rIns="0">
            <a:spAutoFit/>
          </a:bodyPr>
          <a:lstStyle/>
          <a:p>
            <a:pPr algn="l">
              <a:lnSpc>
                <a:spcPts val="3600"/>
              </a:lnSpc>
            </a:pPr>
            <a:r>
              <a:rPr lang="en-US" sz="3000">
                <a:solidFill>
                  <a:srgbClr val="1F2328"/>
                </a:solidFill>
                <a:latin typeface="Calibri (MS)"/>
                <a:ea typeface="Calibri (MS)"/>
                <a:cs typeface="Calibri (MS)"/>
                <a:sym typeface="Calibri (MS)"/>
              </a:rPr>
              <a:t>01   Problem Statement</a:t>
            </a:r>
          </a:p>
          <a:p>
            <a:pPr algn="l">
              <a:lnSpc>
                <a:spcPts val="3600"/>
              </a:lnSpc>
            </a:pPr>
            <a:r>
              <a:rPr lang="en-US" sz="3000">
                <a:solidFill>
                  <a:srgbClr val="1F2328"/>
                </a:solidFill>
                <a:latin typeface="Calibri (MS)"/>
                <a:ea typeface="Calibri (MS)"/>
                <a:cs typeface="Calibri (MS)"/>
                <a:sym typeface="Calibri (MS)"/>
              </a:rPr>
              <a:t>02   Why This Problem?</a:t>
            </a:r>
          </a:p>
          <a:p>
            <a:pPr algn="l">
              <a:lnSpc>
                <a:spcPts val="3600"/>
              </a:lnSpc>
            </a:pPr>
            <a:r>
              <a:rPr lang="en-US" sz="3000">
                <a:solidFill>
                  <a:srgbClr val="1F2328"/>
                </a:solidFill>
                <a:latin typeface="Calibri (MS)"/>
                <a:ea typeface="Calibri (MS)"/>
                <a:cs typeface="Calibri (MS)"/>
                <a:sym typeface="Calibri (MS)"/>
              </a:rPr>
              <a:t>03   Solution Overview</a:t>
            </a:r>
          </a:p>
          <a:p>
            <a:pPr algn="l">
              <a:lnSpc>
                <a:spcPts val="3600"/>
              </a:lnSpc>
            </a:pPr>
            <a:r>
              <a:rPr lang="en-US" sz="3000">
                <a:solidFill>
                  <a:srgbClr val="1F2328"/>
                </a:solidFill>
                <a:latin typeface="Calibri (MS)"/>
                <a:ea typeface="Calibri (MS)"/>
                <a:cs typeface="Calibri (MS)"/>
                <a:sym typeface="Calibri (MS)"/>
              </a:rPr>
              <a:t>04   Dataset &amp; Features</a:t>
            </a:r>
          </a:p>
          <a:p>
            <a:pPr algn="l">
              <a:lnSpc>
                <a:spcPts val="3600"/>
              </a:lnSpc>
            </a:pPr>
            <a:r>
              <a:rPr lang="en-US" sz="3000">
                <a:solidFill>
                  <a:srgbClr val="1F2328"/>
                </a:solidFill>
                <a:latin typeface="Calibri (MS)"/>
                <a:ea typeface="Calibri (MS)"/>
                <a:cs typeface="Calibri (MS)"/>
                <a:sym typeface="Calibri (MS)"/>
              </a:rPr>
              <a:t>05   Methodology &amp; ML Pipeline</a:t>
            </a:r>
          </a:p>
          <a:p>
            <a:pPr algn="l">
              <a:lnSpc>
                <a:spcPts val="3600"/>
              </a:lnSpc>
            </a:pPr>
            <a:r>
              <a:rPr lang="en-US" sz="3000">
                <a:solidFill>
                  <a:srgbClr val="1F2328"/>
                </a:solidFill>
                <a:latin typeface="Calibri (MS)"/>
                <a:ea typeface="Calibri (MS)"/>
                <a:cs typeface="Calibri (MS)"/>
                <a:sym typeface="Calibri (MS)"/>
              </a:rPr>
              <a:t>06   Model Performance Results</a:t>
            </a:r>
          </a:p>
          <a:p>
            <a:pPr algn="l">
              <a:lnSpc>
                <a:spcPts val="3600"/>
              </a:lnSpc>
            </a:pPr>
            <a:r>
              <a:rPr lang="en-US" sz="3000">
                <a:solidFill>
                  <a:srgbClr val="1F2328"/>
                </a:solidFill>
                <a:latin typeface="Calibri (MS)"/>
                <a:ea typeface="Calibri (MS)"/>
                <a:cs typeface="Calibri (MS)"/>
                <a:sym typeface="Calibri (MS)"/>
              </a:rPr>
              <a:t>07   SHAP Explainability</a:t>
            </a:r>
          </a:p>
          <a:p>
            <a:pPr algn="l">
              <a:lnSpc>
                <a:spcPts val="3600"/>
              </a:lnSpc>
            </a:pPr>
            <a:r>
              <a:rPr lang="en-US" sz="3000">
                <a:solidFill>
                  <a:srgbClr val="1F2328"/>
                </a:solidFill>
                <a:latin typeface="Calibri (MS)"/>
                <a:ea typeface="Calibri (MS)"/>
                <a:cs typeface="Calibri (MS)"/>
                <a:sym typeface="Calibri (MS)"/>
              </a:rPr>
              <a:t>08   Live Dashboard &amp; API</a:t>
            </a:r>
          </a:p>
          <a:p>
            <a:pPr algn="l">
              <a:lnSpc>
                <a:spcPts val="3600"/>
              </a:lnSpc>
            </a:pPr>
            <a:r>
              <a:rPr lang="en-US" sz="3000">
                <a:solidFill>
                  <a:srgbClr val="1F2328"/>
                </a:solidFill>
                <a:latin typeface="Calibri (MS)"/>
                <a:ea typeface="Calibri (MS)"/>
                <a:cs typeface="Calibri (MS)"/>
                <a:sym typeface="Calibri (MS)"/>
              </a:rPr>
              <a:t>09   Tech Stack &amp; Architecture</a:t>
            </a:r>
          </a:p>
          <a:p>
            <a:pPr algn="l">
              <a:lnSpc>
                <a:spcPts val="3600"/>
              </a:lnSpc>
            </a:pPr>
            <a:r>
              <a:rPr lang="en-US" sz="3000">
                <a:solidFill>
                  <a:srgbClr val="1F2328"/>
                </a:solidFill>
                <a:latin typeface="Calibri (MS)"/>
                <a:ea typeface="Calibri (MS)"/>
                <a:cs typeface="Calibri (MS)"/>
                <a:sym typeface="Calibri (MS)"/>
              </a:rPr>
              <a:t>10   Who Benefits?</a:t>
            </a:r>
          </a:p>
          <a:p>
            <a:pPr algn="l">
              <a:lnSpc>
                <a:spcPts val="3600"/>
              </a:lnSpc>
            </a:pPr>
            <a:r>
              <a:rPr lang="en-US" sz="3000">
                <a:solidFill>
                  <a:srgbClr val="1F2328"/>
                </a:solidFill>
                <a:latin typeface="Calibri (MS)"/>
                <a:ea typeface="Calibri (MS)"/>
                <a:cs typeface="Calibri (MS)"/>
                <a:sym typeface="Calibri (MS)"/>
              </a:rPr>
              <a:t>11   Conclusion &amp; Future Work</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3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Problem Statement</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809996" y="1620002"/>
            <a:ext cx="4859998" cy="1889998"/>
            <a:chOff x="0" y="0"/>
            <a:chExt cx="6479997" cy="2519998"/>
          </a:xfrm>
        </p:grpSpPr>
        <p:sp>
          <p:nvSpPr>
            <p:cNvPr name="Freeform 7" id="7"/>
            <p:cNvSpPr/>
            <p:nvPr/>
          </p:nvSpPr>
          <p:spPr>
            <a:xfrm flipH="false" flipV="false" rot="0">
              <a:off x="0" y="0"/>
              <a:ext cx="6480048" cy="2520061"/>
            </a:xfrm>
            <a:custGeom>
              <a:avLst/>
              <a:gdLst/>
              <a:ahLst/>
              <a:cxnLst/>
              <a:rect r="r" b="b" t="t" l="l"/>
              <a:pathLst>
                <a:path h="2520061" w="6480048">
                  <a:moveTo>
                    <a:pt x="0" y="0"/>
                  </a:moveTo>
                  <a:lnTo>
                    <a:pt x="6480048" y="0"/>
                  </a:lnTo>
                  <a:lnTo>
                    <a:pt x="6480048" y="2520061"/>
                  </a:lnTo>
                  <a:lnTo>
                    <a:pt x="0" y="2520061"/>
                  </a:lnTo>
                  <a:close/>
                </a:path>
              </a:pathLst>
            </a:custGeom>
            <a:solidFill>
              <a:srgbClr val="EBF0FF"/>
            </a:solidFill>
          </p:spPr>
        </p:sp>
        <p:sp>
          <p:nvSpPr>
            <p:cNvPr name="TextBox 8" id="8"/>
            <p:cNvSpPr txBox="true"/>
            <p:nvPr/>
          </p:nvSpPr>
          <p:spPr>
            <a:xfrm>
              <a:off x="0" y="-47625"/>
              <a:ext cx="6479997" cy="2567623"/>
            </a:xfrm>
            <a:prstGeom prst="rect">
              <a:avLst/>
            </a:prstGeom>
          </p:spPr>
          <p:txBody>
            <a:bodyPr anchor="t" rtlCol="false" tIns="50800" lIns="50800" bIns="50800" rIns="50800"/>
            <a:lstStyle/>
            <a:p>
              <a:pPr algn="l">
                <a:lnSpc>
                  <a:spcPts val="3060"/>
                </a:lnSpc>
              </a:pPr>
              <a:r>
                <a:rPr lang="en-US" sz="2550">
                  <a:solidFill>
                    <a:srgbClr val="1F2328"/>
                  </a:solidFill>
                  <a:latin typeface="Calibri (MS)"/>
                  <a:ea typeface="Calibri (MS)"/>
                  <a:cs typeface="Calibri (MS)"/>
                  <a:sym typeface="Calibri (MS)"/>
                </a:rPr>
                <a:t>15-25%</a:t>
              </a:r>
            </a:p>
            <a:p>
              <a:pPr algn="l">
                <a:lnSpc>
                  <a:spcPts val="3060"/>
                </a:lnSpc>
              </a:pPr>
              <a:r>
                <a:rPr lang="en-US" sz="2550">
                  <a:solidFill>
                    <a:srgbClr val="1F2328"/>
                  </a:solidFill>
                  <a:latin typeface="Calibri (MS)"/>
                  <a:ea typeface="Calibri (MS)"/>
                  <a:cs typeface="Calibri (MS)"/>
                  <a:sym typeface="Calibri (MS)"/>
                </a:rPr>
                <a:t>Annual churn rate</a:t>
              </a:r>
            </a:p>
            <a:p>
              <a:pPr algn="l">
                <a:lnSpc>
                  <a:spcPts val="3060"/>
                </a:lnSpc>
              </a:pPr>
              <a:r>
                <a:rPr lang="en-US" sz="2550">
                  <a:solidFill>
                    <a:srgbClr val="1F2328"/>
                  </a:solidFill>
                  <a:latin typeface="Calibri (MS)"/>
                  <a:ea typeface="Calibri (MS)"/>
                  <a:cs typeface="Calibri (MS)"/>
                  <a:sym typeface="Calibri (MS)"/>
                </a:rPr>
                <a:t>in telecom</a:t>
              </a:r>
            </a:p>
          </p:txBody>
        </p:sp>
      </p:grpSp>
      <p:grpSp>
        <p:nvGrpSpPr>
          <p:cNvPr name="Group 9" id="9"/>
          <p:cNvGrpSpPr/>
          <p:nvPr/>
        </p:nvGrpSpPr>
        <p:grpSpPr>
          <a:xfrm rot="0">
            <a:off x="6210005" y="1620002"/>
            <a:ext cx="4859998" cy="1889998"/>
            <a:chOff x="0" y="0"/>
            <a:chExt cx="6479997" cy="2519998"/>
          </a:xfrm>
        </p:grpSpPr>
        <p:sp>
          <p:nvSpPr>
            <p:cNvPr name="Freeform 10" id="10"/>
            <p:cNvSpPr/>
            <p:nvPr/>
          </p:nvSpPr>
          <p:spPr>
            <a:xfrm flipH="false" flipV="false" rot="0">
              <a:off x="0" y="0"/>
              <a:ext cx="6480048" cy="2520061"/>
            </a:xfrm>
            <a:custGeom>
              <a:avLst/>
              <a:gdLst/>
              <a:ahLst/>
              <a:cxnLst/>
              <a:rect r="r" b="b" t="t" l="l"/>
              <a:pathLst>
                <a:path h="2520061" w="6480048">
                  <a:moveTo>
                    <a:pt x="0" y="0"/>
                  </a:moveTo>
                  <a:lnTo>
                    <a:pt x="6480048" y="0"/>
                  </a:lnTo>
                  <a:lnTo>
                    <a:pt x="6480048" y="2520061"/>
                  </a:lnTo>
                  <a:lnTo>
                    <a:pt x="0" y="2520061"/>
                  </a:lnTo>
                  <a:close/>
                </a:path>
              </a:pathLst>
            </a:custGeom>
            <a:solidFill>
              <a:srgbClr val="EBF0FF"/>
            </a:solidFill>
          </p:spPr>
        </p:sp>
        <p:sp>
          <p:nvSpPr>
            <p:cNvPr name="TextBox 11" id="11"/>
            <p:cNvSpPr txBox="true"/>
            <p:nvPr/>
          </p:nvSpPr>
          <p:spPr>
            <a:xfrm>
              <a:off x="0" y="-47625"/>
              <a:ext cx="6479997" cy="2567623"/>
            </a:xfrm>
            <a:prstGeom prst="rect">
              <a:avLst/>
            </a:prstGeom>
          </p:spPr>
          <p:txBody>
            <a:bodyPr anchor="t" rtlCol="false" tIns="50800" lIns="50800" bIns="50800" rIns="50800"/>
            <a:lstStyle/>
            <a:p>
              <a:pPr algn="l">
                <a:lnSpc>
                  <a:spcPts val="3060"/>
                </a:lnSpc>
              </a:pPr>
              <a:r>
                <a:rPr lang="en-US" sz="2550">
                  <a:solidFill>
                    <a:srgbClr val="1F2328"/>
                  </a:solidFill>
                  <a:latin typeface="Calibri (MS)"/>
                  <a:ea typeface="Calibri (MS)"/>
                  <a:cs typeface="Calibri (MS)"/>
                  <a:sym typeface="Calibri (MS)"/>
                </a:rPr>
                <a:t>5-7x</a:t>
              </a:r>
            </a:p>
            <a:p>
              <a:pPr algn="l">
                <a:lnSpc>
                  <a:spcPts val="3060"/>
                </a:lnSpc>
              </a:pPr>
              <a:r>
                <a:rPr lang="en-US" sz="2550">
                  <a:solidFill>
                    <a:srgbClr val="1F2328"/>
                  </a:solidFill>
                  <a:latin typeface="Calibri (MS)"/>
                  <a:ea typeface="Calibri (MS)"/>
                  <a:cs typeface="Calibri (MS)"/>
                  <a:sym typeface="Calibri (MS)"/>
                </a:rPr>
                <a:t>Cost to acquire vs.</a:t>
              </a:r>
            </a:p>
            <a:p>
              <a:pPr algn="l">
                <a:lnSpc>
                  <a:spcPts val="3060"/>
                </a:lnSpc>
              </a:pPr>
              <a:r>
                <a:rPr lang="en-US" sz="2550">
                  <a:solidFill>
                    <a:srgbClr val="1F2328"/>
                  </a:solidFill>
                  <a:latin typeface="Calibri (MS)"/>
                  <a:ea typeface="Calibri (MS)"/>
                  <a:cs typeface="Calibri (MS)"/>
                  <a:sym typeface="Calibri (MS)"/>
                </a:rPr>
                <a:t>retain a customer</a:t>
              </a:r>
            </a:p>
          </p:txBody>
        </p:sp>
      </p:grpSp>
      <p:grpSp>
        <p:nvGrpSpPr>
          <p:cNvPr name="Group 12" id="12"/>
          <p:cNvGrpSpPr/>
          <p:nvPr/>
        </p:nvGrpSpPr>
        <p:grpSpPr>
          <a:xfrm rot="0">
            <a:off x="11610003" y="1620002"/>
            <a:ext cx="4859998" cy="1889998"/>
            <a:chOff x="0" y="0"/>
            <a:chExt cx="6479997" cy="2519998"/>
          </a:xfrm>
        </p:grpSpPr>
        <p:sp>
          <p:nvSpPr>
            <p:cNvPr name="Freeform 13" id="13"/>
            <p:cNvSpPr/>
            <p:nvPr/>
          </p:nvSpPr>
          <p:spPr>
            <a:xfrm flipH="false" flipV="false" rot="0">
              <a:off x="0" y="0"/>
              <a:ext cx="6480048" cy="2520061"/>
            </a:xfrm>
            <a:custGeom>
              <a:avLst/>
              <a:gdLst/>
              <a:ahLst/>
              <a:cxnLst/>
              <a:rect r="r" b="b" t="t" l="l"/>
              <a:pathLst>
                <a:path h="2520061" w="6480048">
                  <a:moveTo>
                    <a:pt x="0" y="0"/>
                  </a:moveTo>
                  <a:lnTo>
                    <a:pt x="6480048" y="0"/>
                  </a:lnTo>
                  <a:lnTo>
                    <a:pt x="6480048" y="2520061"/>
                  </a:lnTo>
                  <a:lnTo>
                    <a:pt x="0" y="2520061"/>
                  </a:lnTo>
                  <a:close/>
                </a:path>
              </a:pathLst>
            </a:custGeom>
            <a:solidFill>
              <a:srgbClr val="EBF0FF"/>
            </a:solidFill>
          </p:spPr>
        </p:sp>
        <p:sp>
          <p:nvSpPr>
            <p:cNvPr name="TextBox 14" id="14"/>
            <p:cNvSpPr txBox="true"/>
            <p:nvPr/>
          </p:nvSpPr>
          <p:spPr>
            <a:xfrm>
              <a:off x="0" y="-47625"/>
              <a:ext cx="6479997" cy="2567623"/>
            </a:xfrm>
            <a:prstGeom prst="rect">
              <a:avLst/>
            </a:prstGeom>
          </p:spPr>
          <p:txBody>
            <a:bodyPr anchor="t" rtlCol="false" tIns="50800" lIns="50800" bIns="50800" rIns="50800"/>
            <a:lstStyle/>
            <a:p>
              <a:pPr algn="l">
                <a:lnSpc>
                  <a:spcPts val="3060"/>
                </a:lnSpc>
              </a:pPr>
              <a:r>
                <a:rPr lang="en-US" sz="2550">
                  <a:solidFill>
                    <a:srgbClr val="1F2328"/>
                  </a:solidFill>
                  <a:latin typeface="Calibri (MS)"/>
                  <a:ea typeface="Calibri (MS)"/>
                  <a:cs typeface="Calibri (MS)"/>
                  <a:sym typeface="Calibri (MS)"/>
                </a:rPr>
                <a:t>~$1 Trillion</a:t>
              </a:r>
            </a:p>
            <a:p>
              <a:pPr algn="l">
                <a:lnSpc>
                  <a:spcPts val="3060"/>
                </a:lnSpc>
              </a:pPr>
              <a:r>
                <a:rPr lang="en-US" sz="2550">
                  <a:solidFill>
                    <a:srgbClr val="1F2328"/>
                  </a:solidFill>
                  <a:latin typeface="Calibri (MS)"/>
                  <a:ea typeface="Calibri (MS)"/>
                  <a:cs typeface="Calibri (MS)"/>
                  <a:sym typeface="Calibri (MS)"/>
                </a:rPr>
                <a:t>Global annual revenue</a:t>
              </a:r>
            </a:p>
            <a:p>
              <a:pPr algn="l">
                <a:lnSpc>
                  <a:spcPts val="3060"/>
                </a:lnSpc>
              </a:pPr>
              <a:r>
                <a:rPr lang="en-US" sz="2550">
                  <a:solidFill>
                    <a:srgbClr val="1F2328"/>
                  </a:solidFill>
                  <a:latin typeface="Calibri (MS)"/>
                  <a:ea typeface="Calibri (MS)"/>
                  <a:cs typeface="Calibri (MS)"/>
                  <a:sym typeface="Calibri (MS)"/>
                </a:rPr>
                <a:t>lost to churn</a:t>
              </a:r>
            </a:p>
          </p:txBody>
        </p:sp>
      </p:grpSp>
      <p:sp>
        <p:nvSpPr>
          <p:cNvPr name="TextBox 15" id="15"/>
          <p:cNvSpPr txBox="true"/>
          <p:nvPr/>
        </p:nvSpPr>
        <p:spPr>
          <a:xfrm rot="0">
            <a:off x="901436" y="3886095"/>
            <a:ext cx="15477115" cy="442189"/>
          </a:xfrm>
          <a:prstGeom prst="rect">
            <a:avLst/>
          </a:prstGeom>
        </p:spPr>
        <p:txBody>
          <a:bodyPr anchor="t" rtlCol="false" tIns="0" lIns="0" bIns="0" rIns="0">
            <a:spAutoFit/>
          </a:bodyPr>
          <a:lstStyle/>
          <a:p>
            <a:pPr algn="l">
              <a:lnSpc>
                <a:spcPts val="3060"/>
              </a:lnSpc>
            </a:pPr>
            <a:r>
              <a:rPr lang="en-US" sz="2550" b="true">
                <a:solidFill>
                  <a:srgbClr val="1E2761"/>
                </a:solidFill>
                <a:latin typeface="Calibri (MS) Bold"/>
                <a:ea typeface="Calibri (MS) Bold"/>
                <a:cs typeface="Calibri (MS) Bold"/>
                <a:sym typeface="Calibri (MS) Bold"/>
              </a:rPr>
              <a:t>1  Class Imbalance Ignored</a:t>
            </a:r>
          </a:p>
        </p:txBody>
      </p:sp>
      <p:sp>
        <p:nvSpPr>
          <p:cNvPr name="TextBox 16" id="16"/>
          <p:cNvSpPr txBox="true"/>
          <p:nvPr/>
        </p:nvSpPr>
        <p:spPr>
          <a:xfrm rot="0">
            <a:off x="901436" y="4308567"/>
            <a:ext cx="15477115" cy="829713"/>
          </a:xfrm>
          <a:prstGeom prst="rect">
            <a:avLst/>
          </a:prstGeom>
        </p:spPr>
        <p:txBody>
          <a:bodyPr anchor="t" rtlCol="false" tIns="0" lIns="0" bIns="0" rIns="0">
            <a:spAutoFit/>
          </a:bodyPr>
          <a:lstStyle/>
          <a:p>
            <a:pPr algn="l">
              <a:lnSpc>
                <a:spcPts val="2700"/>
              </a:lnSpc>
            </a:pPr>
            <a:r>
              <a:rPr lang="en-US" sz="2250">
                <a:solidFill>
                  <a:srgbClr val="1F2328"/>
                </a:solidFill>
                <a:latin typeface="Calibri (MS)"/>
                <a:ea typeface="Calibri (MS)"/>
                <a:cs typeface="Calibri (MS)"/>
                <a:sym typeface="Calibri (MS)"/>
              </a:rPr>
              <a:t>Only ~26% of customers churn. Standard models predict 'No Churn' for nearly everyone and miss at-risk customers entirely — achieving 73% accuracy while being completely useless.</a:t>
            </a:r>
          </a:p>
        </p:txBody>
      </p:sp>
      <p:sp>
        <p:nvSpPr>
          <p:cNvPr name="TextBox 17" id="17"/>
          <p:cNvSpPr txBox="true"/>
          <p:nvPr/>
        </p:nvSpPr>
        <p:spPr>
          <a:xfrm rot="0">
            <a:off x="901436" y="5290099"/>
            <a:ext cx="15477115" cy="442189"/>
          </a:xfrm>
          <a:prstGeom prst="rect">
            <a:avLst/>
          </a:prstGeom>
        </p:spPr>
        <p:txBody>
          <a:bodyPr anchor="t" rtlCol="false" tIns="0" lIns="0" bIns="0" rIns="0">
            <a:spAutoFit/>
          </a:bodyPr>
          <a:lstStyle/>
          <a:p>
            <a:pPr algn="l">
              <a:lnSpc>
                <a:spcPts val="3060"/>
              </a:lnSpc>
            </a:pPr>
            <a:r>
              <a:rPr lang="en-US" sz="2550" b="true">
                <a:solidFill>
                  <a:srgbClr val="1E2761"/>
                </a:solidFill>
                <a:latin typeface="Calibri (MS) Bold"/>
                <a:ea typeface="Calibri (MS) Bold"/>
                <a:cs typeface="Calibri (MS) Bold"/>
                <a:sym typeface="Calibri (MS) Bold"/>
              </a:rPr>
              <a:t>2  Black-Box Predictions Are Useless</a:t>
            </a:r>
          </a:p>
        </p:txBody>
      </p:sp>
      <p:sp>
        <p:nvSpPr>
          <p:cNvPr name="TextBox 18" id="18"/>
          <p:cNvSpPr txBox="true"/>
          <p:nvPr/>
        </p:nvSpPr>
        <p:spPr>
          <a:xfrm rot="0">
            <a:off x="901436" y="5712571"/>
            <a:ext cx="15477115" cy="829713"/>
          </a:xfrm>
          <a:prstGeom prst="rect">
            <a:avLst/>
          </a:prstGeom>
        </p:spPr>
        <p:txBody>
          <a:bodyPr anchor="t" rtlCol="false" tIns="0" lIns="0" bIns="0" rIns="0">
            <a:spAutoFit/>
          </a:bodyPr>
          <a:lstStyle/>
          <a:p>
            <a:pPr algn="l">
              <a:lnSpc>
                <a:spcPts val="2700"/>
              </a:lnSpc>
            </a:pPr>
            <a:r>
              <a:rPr lang="en-US" sz="2250">
                <a:solidFill>
                  <a:srgbClr val="1F2328"/>
                </a:solidFill>
                <a:latin typeface="Calibri (MS)"/>
                <a:ea typeface="Calibri (MS)"/>
                <a:cs typeface="Calibri (MS)"/>
                <a:sym typeface="Calibri (MS)"/>
              </a:rPr>
              <a:t>A churn probability score without explanation gives retention teams nothing to act on. They need to know WHY a customer is at risk to intervene effectively.</a:t>
            </a:r>
          </a:p>
        </p:txBody>
      </p:sp>
      <p:sp>
        <p:nvSpPr>
          <p:cNvPr name="TextBox 19" id="19"/>
          <p:cNvSpPr txBox="true"/>
          <p:nvPr/>
        </p:nvSpPr>
        <p:spPr>
          <a:xfrm rot="0">
            <a:off x="901436" y="6694094"/>
            <a:ext cx="15477115" cy="442189"/>
          </a:xfrm>
          <a:prstGeom prst="rect">
            <a:avLst/>
          </a:prstGeom>
        </p:spPr>
        <p:txBody>
          <a:bodyPr anchor="t" rtlCol="false" tIns="0" lIns="0" bIns="0" rIns="0">
            <a:spAutoFit/>
          </a:bodyPr>
          <a:lstStyle/>
          <a:p>
            <a:pPr algn="l">
              <a:lnSpc>
                <a:spcPts val="3060"/>
              </a:lnSpc>
            </a:pPr>
            <a:r>
              <a:rPr lang="en-US" sz="2550" b="true">
                <a:solidFill>
                  <a:srgbClr val="1E2761"/>
                </a:solidFill>
                <a:latin typeface="Calibri (MS) Bold"/>
                <a:ea typeface="Calibri (MS) Bold"/>
                <a:cs typeface="Calibri (MS) Bold"/>
                <a:sym typeface="Calibri (MS) Bold"/>
              </a:rPr>
              <a:t>3  Accuracy Is a Misleading Metric</a:t>
            </a:r>
          </a:p>
        </p:txBody>
      </p:sp>
      <p:sp>
        <p:nvSpPr>
          <p:cNvPr name="TextBox 20" id="20"/>
          <p:cNvSpPr txBox="true"/>
          <p:nvPr/>
        </p:nvSpPr>
        <p:spPr>
          <a:xfrm rot="0">
            <a:off x="901436" y="7116566"/>
            <a:ext cx="15477115" cy="829713"/>
          </a:xfrm>
          <a:prstGeom prst="rect">
            <a:avLst/>
          </a:prstGeom>
        </p:spPr>
        <p:txBody>
          <a:bodyPr anchor="t" rtlCol="false" tIns="0" lIns="0" bIns="0" rIns="0">
            <a:spAutoFit/>
          </a:bodyPr>
          <a:lstStyle/>
          <a:p>
            <a:pPr algn="l">
              <a:lnSpc>
                <a:spcPts val="2700"/>
              </a:lnSpc>
            </a:pPr>
            <a:r>
              <a:rPr lang="en-US" sz="2250">
                <a:solidFill>
                  <a:srgbClr val="1F2328"/>
                </a:solidFill>
                <a:latin typeface="Calibri (MS)"/>
                <a:ea typeface="Calibri (MS)"/>
                <a:cs typeface="Calibri (MS)"/>
                <a:sym typeface="Calibri (MS)"/>
              </a:rPr>
              <a:t>On imbalanced datasets, optimising accuracy is wrong. Recall (catching churners) and F1-Score are the business-critical metrics — not raw accuracy.</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4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Solution Overview</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809996" y="1620002"/>
            <a:ext cx="7020001" cy="2429999"/>
            <a:chOff x="0" y="0"/>
            <a:chExt cx="9360002" cy="3239999"/>
          </a:xfrm>
        </p:grpSpPr>
        <p:sp>
          <p:nvSpPr>
            <p:cNvPr name="Freeform 7" id="7"/>
            <p:cNvSpPr/>
            <p:nvPr/>
          </p:nvSpPr>
          <p:spPr>
            <a:xfrm flipH="false" flipV="false" rot="0">
              <a:off x="0" y="0"/>
              <a:ext cx="9360027" cy="3240024"/>
            </a:xfrm>
            <a:custGeom>
              <a:avLst/>
              <a:gdLst/>
              <a:ahLst/>
              <a:cxnLst/>
              <a:rect r="r" b="b" t="t" l="l"/>
              <a:pathLst>
                <a:path h="3240024" w="9360027">
                  <a:moveTo>
                    <a:pt x="0" y="0"/>
                  </a:moveTo>
                  <a:lnTo>
                    <a:pt x="9360027" y="0"/>
                  </a:lnTo>
                  <a:lnTo>
                    <a:pt x="9360027" y="3240024"/>
                  </a:lnTo>
                  <a:lnTo>
                    <a:pt x="0" y="3240024"/>
                  </a:lnTo>
                  <a:close/>
                </a:path>
              </a:pathLst>
            </a:custGeom>
            <a:solidFill>
              <a:srgbClr val="EBF0FF"/>
            </a:solidFill>
          </p:spPr>
        </p:sp>
        <p:sp>
          <p:nvSpPr>
            <p:cNvPr name="TextBox 8" id="8"/>
            <p:cNvSpPr txBox="true"/>
            <p:nvPr/>
          </p:nvSpPr>
          <p:spPr>
            <a:xfrm>
              <a:off x="0" y="-57150"/>
              <a:ext cx="9360002" cy="3297149"/>
            </a:xfrm>
            <a:prstGeom prst="rect">
              <a:avLst/>
            </a:prstGeom>
          </p:spPr>
          <p:txBody>
            <a:bodyPr anchor="t" rtlCol="false" tIns="50800" lIns="50800" bIns="50800" rIns="50800"/>
            <a:lstStyle/>
            <a:p>
              <a:pPr algn="l">
                <a:lnSpc>
                  <a:spcPts val="2700"/>
                </a:lnSpc>
              </a:pPr>
              <a:r>
                <a:rPr lang="en-US" sz="2250">
                  <a:solidFill>
                    <a:srgbClr val="1F2328"/>
                  </a:solidFill>
                  <a:latin typeface="Calibri (MS)"/>
                  <a:ea typeface="Calibri (MS)"/>
                  <a:cs typeface="Calibri (MS)"/>
                  <a:sym typeface="Calibri (MS)"/>
                </a:rPr>
                <a:t>1  SMOTE</a:t>
              </a:r>
            </a:p>
            <a:p>
              <a:pPr algn="l">
                <a:lnSpc>
                  <a:spcPts val="2700"/>
                </a:lnSpc>
              </a:pPr>
            </a:p>
            <a:p>
              <a:pPr algn="l">
                <a:lnSpc>
                  <a:spcPts val="2700"/>
                </a:lnSpc>
              </a:pPr>
              <a:r>
                <a:rPr lang="en-US" sz="2250">
                  <a:solidFill>
                    <a:srgbClr val="1F2328"/>
                  </a:solidFill>
                  <a:latin typeface="Calibri (MS)"/>
                  <a:ea typeface="Calibri (MS)"/>
                  <a:cs typeface="Calibri (MS)"/>
                  <a:sym typeface="Calibri (MS)"/>
                </a:rPr>
                <a:t>Corrects 2.8:1 class imbalance INSIDE cross-validation folds — eliminates data leakage entirely</a:t>
              </a:r>
            </a:p>
          </p:txBody>
        </p:sp>
      </p:grpSp>
      <p:grpSp>
        <p:nvGrpSpPr>
          <p:cNvPr name="Group 9" id="9"/>
          <p:cNvGrpSpPr/>
          <p:nvPr/>
        </p:nvGrpSpPr>
        <p:grpSpPr>
          <a:xfrm rot="0">
            <a:off x="8640004" y="1620002"/>
            <a:ext cx="8100003" cy="2429999"/>
            <a:chOff x="0" y="0"/>
            <a:chExt cx="10800004" cy="3239999"/>
          </a:xfrm>
        </p:grpSpPr>
        <p:sp>
          <p:nvSpPr>
            <p:cNvPr name="Freeform 10" id="10"/>
            <p:cNvSpPr/>
            <p:nvPr/>
          </p:nvSpPr>
          <p:spPr>
            <a:xfrm flipH="false" flipV="false" rot="0">
              <a:off x="0" y="0"/>
              <a:ext cx="10799953" cy="3240024"/>
            </a:xfrm>
            <a:custGeom>
              <a:avLst/>
              <a:gdLst/>
              <a:ahLst/>
              <a:cxnLst/>
              <a:rect r="r" b="b" t="t" l="l"/>
              <a:pathLst>
                <a:path h="3240024" w="10799953">
                  <a:moveTo>
                    <a:pt x="0" y="0"/>
                  </a:moveTo>
                  <a:lnTo>
                    <a:pt x="10799953" y="0"/>
                  </a:lnTo>
                  <a:lnTo>
                    <a:pt x="10799953" y="3240024"/>
                  </a:lnTo>
                  <a:lnTo>
                    <a:pt x="0" y="3240024"/>
                  </a:lnTo>
                  <a:close/>
                </a:path>
              </a:pathLst>
            </a:custGeom>
            <a:solidFill>
              <a:srgbClr val="EBF0FF"/>
            </a:solidFill>
          </p:spPr>
        </p:sp>
        <p:sp>
          <p:nvSpPr>
            <p:cNvPr name="TextBox 11" id="11"/>
            <p:cNvSpPr txBox="true"/>
            <p:nvPr/>
          </p:nvSpPr>
          <p:spPr>
            <a:xfrm>
              <a:off x="0" y="-57150"/>
              <a:ext cx="10800004" cy="3297149"/>
            </a:xfrm>
            <a:prstGeom prst="rect">
              <a:avLst/>
            </a:prstGeom>
          </p:spPr>
          <p:txBody>
            <a:bodyPr anchor="t" rtlCol="false" tIns="50800" lIns="50800" bIns="50800" rIns="50800"/>
            <a:lstStyle/>
            <a:p>
              <a:pPr algn="l">
                <a:lnSpc>
                  <a:spcPts val="2700"/>
                </a:lnSpc>
              </a:pPr>
              <a:r>
                <a:rPr lang="en-US" sz="2250">
                  <a:solidFill>
                    <a:srgbClr val="1F2328"/>
                  </a:solidFill>
                  <a:latin typeface="Calibri (MS)"/>
                  <a:ea typeface="Calibri (MS)"/>
                  <a:cs typeface="Calibri (MS)"/>
                  <a:sym typeface="Calibri (MS)"/>
                </a:rPr>
                <a:t>2  Multi-Model Comparison</a:t>
              </a:r>
            </a:p>
            <a:p>
              <a:pPr algn="l">
                <a:lnSpc>
                  <a:spcPts val="2700"/>
                </a:lnSpc>
              </a:pPr>
            </a:p>
            <a:p>
              <a:pPr algn="l">
                <a:lnSpc>
                  <a:spcPts val="2700"/>
                </a:lnSpc>
              </a:pPr>
              <a:r>
                <a:rPr lang="en-US" sz="2250">
                  <a:solidFill>
                    <a:srgbClr val="1F2328"/>
                  </a:solidFill>
                  <a:latin typeface="Calibri (MS)"/>
                  <a:ea typeface="Calibri (MS)"/>
                  <a:cs typeface="Calibri (MS)"/>
                  <a:sym typeface="Calibri (MS)"/>
                </a:rPr>
                <a:t>Logistic Regression vs Random Forest vs Gradient Boosting — all evaluated on F1, Recall, Precision, ROC-AUC</a:t>
              </a:r>
            </a:p>
          </p:txBody>
        </p:sp>
      </p:grpSp>
      <p:grpSp>
        <p:nvGrpSpPr>
          <p:cNvPr name="Group 12" id="12"/>
          <p:cNvGrpSpPr/>
          <p:nvPr/>
        </p:nvGrpSpPr>
        <p:grpSpPr>
          <a:xfrm rot="0">
            <a:off x="809996" y="4481998"/>
            <a:ext cx="7020001" cy="2429999"/>
            <a:chOff x="0" y="0"/>
            <a:chExt cx="9360002" cy="3239999"/>
          </a:xfrm>
        </p:grpSpPr>
        <p:sp>
          <p:nvSpPr>
            <p:cNvPr name="Freeform 13" id="13"/>
            <p:cNvSpPr/>
            <p:nvPr/>
          </p:nvSpPr>
          <p:spPr>
            <a:xfrm flipH="false" flipV="false" rot="0">
              <a:off x="0" y="0"/>
              <a:ext cx="9360027" cy="3240024"/>
            </a:xfrm>
            <a:custGeom>
              <a:avLst/>
              <a:gdLst/>
              <a:ahLst/>
              <a:cxnLst/>
              <a:rect r="r" b="b" t="t" l="l"/>
              <a:pathLst>
                <a:path h="3240024" w="9360027">
                  <a:moveTo>
                    <a:pt x="0" y="0"/>
                  </a:moveTo>
                  <a:lnTo>
                    <a:pt x="9360027" y="0"/>
                  </a:lnTo>
                  <a:lnTo>
                    <a:pt x="9360027" y="3240024"/>
                  </a:lnTo>
                  <a:lnTo>
                    <a:pt x="0" y="3240024"/>
                  </a:lnTo>
                  <a:close/>
                </a:path>
              </a:pathLst>
            </a:custGeom>
            <a:solidFill>
              <a:srgbClr val="E8F4EC"/>
            </a:solidFill>
          </p:spPr>
        </p:sp>
        <p:sp>
          <p:nvSpPr>
            <p:cNvPr name="TextBox 14" id="14"/>
            <p:cNvSpPr txBox="true"/>
            <p:nvPr/>
          </p:nvSpPr>
          <p:spPr>
            <a:xfrm>
              <a:off x="0" y="-57150"/>
              <a:ext cx="9360002" cy="3297149"/>
            </a:xfrm>
            <a:prstGeom prst="rect">
              <a:avLst/>
            </a:prstGeom>
          </p:spPr>
          <p:txBody>
            <a:bodyPr anchor="t" rtlCol="false" tIns="50800" lIns="50800" bIns="50800" rIns="50800"/>
            <a:lstStyle/>
            <a:p>
              <a:pPr algn="l">
                <a:lnSpc>
                  <a:spcPts val="2700"/>
                </a:lnSpc>
              </a:pPr>
              <a:r>
                <a:rPr lang="en-US" sz="2250">
                  <a:solidFill>
                    <a:srgbClr val="1F2328"/>
                  </a:solidFill>
                  <a:latin typeface="Calibri (MS)"/>
                  <a:ea typeface="Calibri (MS)"/>
                  <a:cs typeface="Calibri (MS)"/>
                  <a:sym typeface="Calibri (MS)"/>
                </a:rPr>
                <a:t>3  SHAP Explainability</a:t>
              </a:r>
            </a:p>
            <a:p>
              <a:pPr algn="l">
                <a:lnSpc>
                  <a:spcPts val="2700"/>
                </a:lnSpc>
              </a:pPr>
            </a:p>
            <a:p>
              <a:pPr algn="l">
                <a:lnSpc>
                  <a:spcPts val="2700"/>
                </a:lnSpc>
              </a:pPr>
              <a:r>
                <a:rPr lang="en-US" sz="2250">
                  <a:solidFill>
                    <a:srgbClr val="1F2328"/>
                  </a:solidFill>
                  <a:latin typeface="Calibri (MS)"/>
                  <a:ea typeface="Calibri (MS)"/>
                  <a:cs typeface="Calibri (MS)"/>
                  <a:sym typeface="Calibri (MS)"/>
                </a:rPr>
                <a:t>Global feature importance (bar + beeswarm plots) and per-customer waterfall chart — not a black box, saved as shap_values.pkl</a:t>
              </a:r>
            </a:p>
          </p:txBody>
        </p:sp>
      </p:grpSp>
      <p:grpSp>
        <p:nvGrpSpPr>
          <p:cNvPr name="Group 15" id="15"/>
          <p:cNvGrpSpPr/>
          <p:nvPr/>
        </p:nvGrpSpPr>
        <p:grpSpPr>
          <a:xfrm rot="0">
            <a:off x="8640004" y="4481998"/>
            <a:ext cx="8100003" cy="2429999"/>
            <a:chOff x="0" y="0"/>
            <a:chExt cx="10800004" cy="3239999"/>
          </a:xfrm>
        </p:grpSpPr>
        <p:sp>
          <p:nvSpPr>
            <p:cNvPr name="Freeform 16" id="16"/>
            <p:cNvSpPr/>
            <p:nvPr/>
          </p:nvSpPr>
          <p:spPr>
            <a:xfrm flipH="false" flipV="false" rot="0">
              <a:off x="0" y="0"/>
              <a:ext cx="10799953" cy="3240024"/>
            </a:xfrm>
            <a:custGeom>
              <a:avLst/>
              <a:gdLst/>
              <a:ahLst/>
              <a:cxnLst/>
              <a:rect r="r" b="b" t="t" l="l"/>
              <a:pathLst>
                <a:path h="3240024" w="10799953">
                  <a:moveTo>
                    <a:pt x="0" y="0"/>
                  </a:moveTo>
                  <a:lnTo>
                    <a:pt x="10799953" y="0"/>
                  </a:lnTo>
                  <a:lnTo>
                    <a:pt x="10799953" y="3240024"/>
                  </a:lnTo>
                  <a:lnTo>
                    <a:pt x="0" y="3240024"/>
                  </a:lnTo>
                  <a:close/>
                </a:path>
              </a:pathLst>
            </a:custGeom>
            <a:solidFill>
              <a:srgbClr val="E8F4EC"/>
            </a:solidFill>
          </p:spPr>
        </p:sp>
        <p:sp>
          <p:nvSpPr>
            <p:cNvPr name="TextBox 17" id="17"/>
            <p:cNvSpPr txBox="true"/>
            <p:nvPr/>
          </p:nvSpPr>
          <p:spPr>
            <a:xfrm>
              <a:off x="0" y="-57150"/>
              <a:ext cx="10800004" cy="3297149"/>
            </a:xfrm>
            <a:prstGeom prst="rect">
              <a:avLst/>
            </a:prstGeom>
          </p:spPr>
          <p:txBody>
            <a:bodyPr anchor="t" rtlCol="false" tIns="50800" lIns="50800" bIns="50800" rIns="50800"/>
            <a:lstStyle/>
            <a:p>
              <a:pPr algn="l">
                <a:lnSpc>
                  <a:spcPts val="2700"/>
                </a:lnSpc>
              </a:pPr>
              <a:r>
                <a:rPr lang="en-US" sz="2250">
                  <a:solidFill>
                    <a:srgbClr val="1F2328"/>
                  </a:solidFill>
                  <a:latin typeface="Calibri (MS)"/>
                  <a:ea typeface="Calibri (MS)"/>
                  <a:cs typeface="Calibri (MS)"/>
                  <a:sym typeface="Calibri (MS)"/>
                </a:rPr>
                <a:t>4  Production Deployment</a:t>
              </a:r>
            </a:p>
            <a:p>
              <a:pPr algn="l">
                <a:lnSpc>
                  <a:spcPts val="2700"/>
                </a:lnSpc>
              </a:pPr>
            </a:p>
            <a:p>
              <a:pPr algn="l">
                <a:lnSpc>
                  <a:spcPts val="2700"/>
                </a:lnSpc>
              </a:pPr>
              <a:r>
                <a:rPr lang="en-US" sz="2250">
                  <a:solidFill>
                    <a:srgbClr val="1F2328"/>
                  </a:solidFill>
                  <a:latin typeface="Calibri (MS)"/>
                  <a:ea typeface="Calibri (MS)"/>
                  <a:cs typeface="Calibri (MS)"/>
                  <a:sym typeface="Calibri (MS)"/>
                </a:rPr>
                <a:t>FastAPI /predict + /explain + /customers + /analytics endpoints  |  5-tab Streamlit dashboard  |  Docker Compose  |  PostgreSQL logging</a:t>
              </a:r>
            </a:p>
          </p:txBody>
        </p:sp>
      </p:grpSp>
      <p:sp>
        <p:nvSpPr>
          <p:cNvPr name="TextBox 18" id="18"/>
          <p:cNvSpPr txBox="true"/>
          <p:nvPr/>
        </p:nvSpPr>
        <p:spPr>
          <a:xfrm rot="0">
            <a:off x="901436" y="7558097"/>
            <a:ext cx="15477115" cy="766181"/>
          </a:xfrm>
          <a:prstGeom prst="rect">
            <a:avLst/>
          </a:prstGeom>
        </p:spPr>
        <p:txBody>
          <a:bodyPr anchor="t" rtlCol="false" tIns="0" lIns="0" bIns="0" rIns="0">
            <a:spAutoFit/>
          </a:bodyPr>
          <a:lstStyle/>
          <a:p>
            <a:pPr algn="l">
              <a:lnSpc>
                <a:spcPts val="3060"/>
              </a:lnSpc>
            </a:pPr>
            <a:r>
              <a:rPr lang="en-US" sz="2550" b="true">
                <a:solidFill>
                  <a:srgbClr val="1E2761"/>
                </a:solidFill>
                <a:latin typeface="Calibri (MS) Bold"/>
                <a:ea typeface="Calibri (MS) Bold"/>
                <a:cs typeface="Calibri (MS) Bold"/>
                <a:sym typeface="Calibri (MS) Bold"/>
              </a:rPr>
              <a:t>"Not just WHO will churn — but exactly WHY, so your retention team can act before it's too late."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5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Dataset &amp; Features</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809996" y="1511998"/>
            <a:ext cx="15659995" cy="971998"/>
            <a:chOff x="0" y="0"/>
            <a:chExt cx="20879994" cy="1295997"/>
          </a:xfrm>
        </p:grpSpPr>
        <p:sp>
          <p:nvSpPr>
            <p:cNvPr name="Freeform 7" id="7"/>
            <p:cNvSpPr/>
            <p:nvPr/>
          </p:nvSpPr>
          <p:spPr>
            <a:xfrm flipH="false" flipV="false" rot="0">
              <a:off x="0" y="0"/>
              <a:ext cx="20879943" cy="1296035"/>
            </a:xfrm>
            <a:custGeom>
              <a:avLst/>
              <a:gdLst/>
              <a:ahLst/>
              <a:cxnLst/>
              <a:rect r="r" b="b" t="t" l="l"/>
              <a:pathLst>
                <a:path h="1296035" w="20879943">
                  <a:moveTo>
                    <a:pt x="0" y="0"/>
                  </a:moveTo>
                  <a:lnTo>
                    <a:pt x="20879943" y="0"/>
                  </a:lnTo>
                  <a:lnTo>
                    <a:pt x="20879943" y="1296035"/>
                  </a:lnTo>
                  <a:lnTo>
                    <a:pt x="0" y="1296035"/>
                  </a:lnTo>
                  <a:close/>
                </a:path>
              </a:pathLst>
            </a:custGeom>
            <a:solidFill>
              <a:srgbClr val="EBF0FF"/>
            </a:solidFill>
          </p:spPr>
        </p:sp>
        <p:sp>
          <p:nvSpPr>
            <p:cNvPr name="TextBox 8" id="8"/>
            <p:cNvSpPr txBox="true"/>
            <p:nvPr/>
          </p:nvSpPr>
          <p:spPr>
            <a:xfrm>
              <a:off x="0" y="-38100"/>
              <a:ext cx="20879994" cy="1334097"/>
            </a:xfrm>
            <a:prstGeom prst="rect">
              <a:avLst/>
            </a:prstGeom>
          </p:spPr>
          <p:txBody>
            <a:bodyPr anchor="t" rtlCol="false" tIns="50800" lIns="50800" bIns="50800" rIns="50800"/>
            <a:lstStyle/>
            <a:p>
              <a:pPr algn="l">
                <a:lnSpc>
                  <a:spcPts val="2879"/>
                </a:lnSpc>
              </a:pPr>
              <a:r>
                <a:rPr lang="en-US" sz="2400">
                  <a:solidFill>
                    <a:srgbClr val="1F2328"/>
                  </a:solidFill>
                  <a:latin typeface="Calibri (MS)"/>
                  <a:ea typeface="Calibri (MS)"/>
                  <a:cs typeface="Calibri (MS)"/>
                  <a:sym typeface="Calibri (MS)"/>
                </a:rPr>
                <a:t>Telco Customer Churn Dataset  (IBM / Kaggle)</a:t>
              </a:r>
            </a:p>
            <a:p>
              <a:pPr algn="l">
                <a:lnSpc>
                  <a:spcPts val="2879"/>
                </a:lnSpc>
              </a:pPr>
              <a:r>
                <a:rPr lang="en-US" sz="2400">
                  <a:solidFill>
                    <a:srgbClr val="1F2328"/>
                  </a:solidFill>
                  <a:latin typeface="Calibri (MS)"/>
                  <a:ea typeface="Calibri (MS)"/>
                  <a:cs typeface="Calibri (MS)"/>
                  <a:sym typeface="Calibri (MS)"/>
                </a:rPr>
                <a:t>7,032 clean records   |   21 raw features   |   2.8:1 class imbalance (corrected with SMOTE)</a:t>
              </a:r>
            </a:p>
          </p:txBody>
        </p:sp>
      </p:grpSp>
      <p:grpSp>
        <p:nvGrpSpPr>
          <p:cNvPr name="Group 9" id="9"/>
          <p:cNvGrpSpPr/>
          <p:nvPr/>
        </p:nvGrpSpPr>
        <p:grpSpPr>
          <a:xfrm rot="0">
            <a:off x="809996" y="2700004"/>
            <a:ext cx="3510001" cy="2700004"/>
            <a:chOff x="0" y="0"/>
            <a:chExt cx="4680001" cy="3600005"/>
          </a:xfrm>
        </p:grpSpPr>
        <p:sp>
          <p:nvSpPr>
            <p:cNvPr name="Freeform 10" id="10"/>
            <p:cNvSpPr/>
            <p:nvPr/>
          </p:nvSpPr>
          <p:spPr>
            <a:xfrm flipH="false" flipV="false" rot="0">
              <a:off x="0" y="0"/>
              <a:ext cx="4679950" cy="3599942"/>
            </a:xfrm>
            <a:custGeom>
              <a:avLst/>
              <a:gdLst/>
              <a:ahLst/>
              <a:cxnLst/>
              <a:rect r="r" b="b" t="t" l="l"/>
              <a:pathLst>
                <a:path h="3599942" w="4679950">
                  <a:moveTo>
                    <a:pt x="0" y="0"/>
                  </a:moveTo>
                  <a:lnTo>
                    <a:pt x="4679950" y="0"/>
                  </a:lnTo>
                  <a:lnTo>
                    <a:pt x="4679950" y="3599942"/>
                  </a:lnTo>
                  <a:lnTo>
                    <a:pt x="0" y="3599942"/>
                  </a:lnTo>
                  <a:close/>
                </a:path>
              </a:pathLst>
            </a:custGeom>
            <a:solidFill>
              <a:srgbClr val="F7F8FA"/>
            </a:solidFill>
          </p:spPr>
        </p:sp>
        <p:sp>
          <p:nvSpPr>
            <p:cNvPr name="TextBox 11" id="11"/>
            <p:cNvSpPr txBox="true"/>
            <p:nvPr/>
          </p:nvSpPr>
          <p:spPr>
            <a:xfrm>
              <a:off x="0" y="-47625"/>
              <a:ext cx="4680001" cy="3647630"/>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Demographics</a:t>
              </a:r>
            </a:p>
            <a:p>
              <a:pPr algn="l">
                <a:lnSpc>
                  <a:spcPts val="2520"/>
                </a:lnSpc>
              </a:pPr>
            </a:p>
            <a:p>
              <a:pPr algn="l">
                <a:lnSpc>
                  <a:spcPts val="2520"/>
                </a:lnSpc>
              </a:pPr>
              <a:r>
                <a:rPr lang="en-US" sz="2100">
                  <a:solidFill>
                    <a:srgbClr val="1F2328"/>
                  </a:solidFill>
                  <a:latin typeface="Calibri (MS)"/>
                  <a:ea typeface="Calibri (MS)"/>
                  <a:cs typeface="Calibri (MS)"/>
                  <a:sym typeface="Calibri (MS)"/>
                </a:rPr>
                <a:t>Gender</a:t>
              </a:r>
            </a:p>
            <a:p>
              <a:pPr algn="l">
                <a:lnSpc>
                  <a:spcPts val="2520"/>
                </a:lnSpc>
              </a:pPr>
              <a:r>
                <a:rPr lang="en-US" sz="2100">
                  <a:solidFill>
                    <a:srgbClr val="1F2328"/>
                  </a:solidFill>
                  <a:latin typeface="Calibri (MS)"/>
                  <a:ea typeface="Calibri (MS)"/>
                  <a:cs typeface="Calibri (MS)"/>
                  <a:sym typeface="Calibri (MS)"/>
                </a:rPr>
                <a:t>Senior Citizen</a:t>
              </a:r>
            </a:p>
            <a:p>
              <a:pPr algn="l">
                <a:lnSpc>
                  <a:spcPts val="2520"/>
                </a:lnSpc>
              </a:pPr>
              <a:r>
                <a:rPr lang="en-US" sz="2100">
                  <a:solidFill>
                    <a:srgbClr val="1F2328"/>
                  </a:solidFill>
                  <a:latin typeface="Calibri (MS)"/>
                  <a:ea typeface="Calibri (MS)"/>
                  <a:cs typeface="Calibri (MS)"/>
                  <a:sym typeface="Calibri (MS)"/>
                </a:rPr>
                <a:t>Partner</a:t>
              </a:r>
            </a:p>
            <a:p>
              <a:pPr algn="l">
                <a:lnSpc>
                  <a:spcPts val="2520"/>
                </a:lnSpc>
              </a:pPr>
              <a:r>
                <a:rPr lang="en-US" sz="2100">
                  <a:solidFill>
                    <a:srgbClr val="1F2328"/>
                  </a:solidFill>
                  <a:latin typeface="Calibri (MS)"/>
                  <a:ea typeface="Calibri (MS)"/>
                  <a:cs typeface="Calibri (MS)"/>
                  <a:sym typeface="Calibri (MS)"/>
                </a:rPr>
                <a:t>Dependents</a:t>
              </a:r>
            </a:p>
          </p:txBody>
        </p:sp>
      </p:grpSp>
      <p:grpSp>
        <p:nvGrpSpPr>
          <p:cNvPr name="Group 12" id="12"/>
          <p:cNvGrpSpPr/>
          <p:nvPr/>
        </p:nvGrpSpPr>
        <p:grpSpPr>
          <a:xfrm rot="0">
            <a:off x="4752003" y="2700004"/>
            <a:ext cx="3510001" cy="2700004"/>
            <a:chOff x="0" y="0"/>
            <a:chExt cx="4680001" cy="3600005"/>
          </a:xfrm>
        </p:grpSpPr>
        <p:sp>
          <p:nvSpPr>
            <p:cNvPr name="Freeform 13" id="13"/>
            <p:cNvSpPr/>
            <p:nvPr/>
          </p:nvSpPr>
          <p:spPr>
            <a:xfrm flipH="false" flipV="false" rot="0">
              <a:off x="0" y="0"/>
              <a:ext cx="4679950" cy="3599942"/>
            </a:xfrm>
            <a:custGeom>
              <a:avLst/>
              <a:gdLst/>
              <a:ahLst/>
              <a:cxnLst/>
              <a:rect r="r" b="b" t="t" l="l"/>
              <a:pathLst>
                <a:path h="3599942" w="4679950">
                  <a:moveTo>
                    <a:pt x="0" y="0"/>
                  </a:moveTo>
                  <a:lnTo>
                    <a:pt x="4679950" y="0"/>
                  </a:lnTo>
                  <a:lnTo>
                    <a:pt x="4679950" y="3599942"/>
                  </a:lnTo>
                  <a:lnTo>
                    <a:pt x="0" y="3599942"/>
                  </a:lnTo>
                  <a:close/>
                </a:path>
              </a:pathLst>
            </a:custGeom>
            <a:solidFill>
              <a:srgbClr val="F7F8FA"/>
            </a:solidFill>
          </p:spPr>
        </p:sp>
        <p:sp>
          <p:nvSpPr>
            <p:cNvPr name="TextBox 14" id="14"/>
            <p:cNvSpPr txBox="true"/>
            <p:nvPr/>
          </p:nvSpPr>
          <p:spPr>
            <a:xfrm>
              <a:off x="0" y="-47625"/>
              <a:ext cx="4680001" cy="3647630"/>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Account Info</a:t>
              </a:r>
            </a:p>
            <a:p>
              <a:pPr algn="l">
                <a:lnSpc>
                  <a:spcPts val="2520"/>
                </a:lnSpc>
              </a:pPr>
            </a:p>
            <a:p>
              <a:pPr algn="l">
                <a:lnSpc>
                  <a:spcPts val="2520"/>
                </a:lnSpc>
              </a:pPr>
              <a:r>
                <a:rPr lang="en-US" sz="2100">
                  <a:solidFill>
                    <a:srgbClr val="1F2328"/>
                  </a:solidFill>
                  <a:latin typeface="Calibri (MS)"/>
                  <a:ea typeface="Calibri (MS)"/>
                  <a:cs typeface="Calibri (MS)"/>
                  <a:sym typeface="Calibri (MS)"/>
                </a:rPr>
                <a:t>Tenure</a:t>
              </a:r>
            </a:p>
            <a:p>
              <a:pPr algn="l">
                <a:lnSpc>
                  <a:spcPts val="2520"/>
                </a:lnSpc>
              </a:pPr>
              <a:r>
                <a:rPr lang="en-US" sz="2100">
                  <a:solidFill>
                    <a:srgbClr val="1F2328"/>
                  </a:solidFill>
                  <a:latin typeface="Calibri (MS)"/>
                  <a:ea typeface="Calibri (MS)"/>
                  <a:cs typeface="Calibri (MS)"/>
                  <a:sym typeface="Calibri (MS)"/>
                </a:rPr>
                <a:t>Contract Type</a:t>
              </a:r>
            </a:p>
            <a:p>
              <a:pPr algn="l">
                <a:lnSpc>
                  <a:spcPts val="2520"/>
                </a:lnSpc>
              </a:pPr>
              <a:r>
                <a:rPr lang="en-US" sz="2100">
                  <a:solidFill>
                    <a:srgbClr val="1F2328"/>
                  </a:solidFill>
                  <a:latin typeface="Calibri (MS)"/>
                  <a:ea typeface="Calibri (MS)"/>
                  <a:cs typeface="Calibri (MS)"/>
                  <a:sym typeface="Calibri (MS)"/>
                </a:rPr>
                <a:t>Paperless Billing</a:t>
              </a:r>
            </a:p>
            <a:p>
              <a:pPr algn="l">
                <a:lnSpc>
                  <a:spcPts val="2520"/>
                </a:lnSpc>
              </a:pPr>
              <a:r>
                <a:rPr lang="en-US" sz="2100">
                  <a:solidFill>
                    <a:srgbClr val="1F2328"/>
                  </a:solidFill>
                  <a:latin typeface="Calibri (MS)"/>
                  <a:ea typeface="Calibri (MS)"/>
                  <a:cs typeface="Calibri (MS)"/>
                  <a:sym typeface="Calibri (MS)"/>
                </a:rPr>
                <a:t>Payment Method</a:t>
              </a:r>
            </a:p>
          </p:txBody>
        </p:sp>
      </p:grpSp>
      <p:grpSp>
        <p:nvGrpSpPr>
          <p:cNvPr name="Group 15" id="15"/>
          <p:cNvGrpSpPr/>
          <p:nvPr/>
        </p:nvGrpSpPr>
        <p:grpSpPr>
          <a:xfrm rot="0">
            <a:off x="8640004" y="2700004"/>
            <a:ext cx="3510001" cy="2700004"/>
            <a:chOff x="0" y="0"/>
            <a:chExt cx="4680001" cy="3600005"/>
          </a:xfrm>
        </p:grpSpPr>
        <p:sp>
          <p:nvSpPr>
            <p:cNvPr name="Freeform 16" id="16"/>
            <p:cNvSpPr/>
            <p:nvPr/>
          </p:nvSpPr>
          <p:spPr>
            <a:xfrm flipH="false" flipV="false" rot="0">
              <a:off x="0" y="0"/>
              <a:ext cx="4679950" cy="3599942"/>
            </a:xfrm>
            <a:custGeom>
              <a:avLst/>
              <a:gdLst/>
              <a:ahLst/>
              <a:cxnLst/>
              <a:rect r="r" b="b" t="t" l="l"/>
              <a:pathLst>
                <a:path h="3599942" w="4679950">
                  <a:moveTo>
                    <a:pt x="0" y="0"/>
                  </a:moveTo>
                  <a:lnTo>
                    <a:pt x="4679950" y="0"/>
                  </a:lnTo>
                  <a:lnTo>
                    <a:pt x="4679950" y="3599942"/>
                  </a:lnTo>
                  <a:lnTo>
                    <a:pt x="0" y="3599942"/>
                  </a:lnTo>
                  <a:close/>
                </a:path>
              </a:pathLst>
            </a:custGeom>
            <a:solidFill>
              <a:srgbClr val="F7F8FA"/>
            </a:solidFill>
          </p:spPr>
        </p:sp>
        <p:sp>
          <p:nvSpPr>
            <p:cNvPr name="TextBox 17" id="17"/>
            <p:cNvSpPr txBox="true"/>
            <p:nvPr/>
          </p:nvSpPr>
          <p:spPr>
            <a:xfrm>
              <a:off x="0" y="-47625"/>
              <a:ext cx="4680001" cy="3647630"/>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Services</a:t>
              </a:r>
            </a:p>
            <a:p>
              <a:pPr algn="l">
                <a:lnSpc>
                  <a:spcPts val="2520"/>
                </a:lnSpc>
              </a:pPr>
            </a:p>
            <a:p>
              <a:pPr algn="l">
                <a:lnSpc>
                  <a:spcPts val="2520"/>
                </a:lnSpc>
              </a:pPr>
              <a:r>
                <a:rPr lang="en-US" sz="2100">
                  <a:solidFill>
                    <a:srgbClr val="1F2328"/>
                  </a:solidFill>
                  <a:latin typeface="Calibri (MS)"/>
                  <a:ea typeface="Calibri (MS)"/>
                  <a:cs typeface="Calibri (MS)"/>
                  <a:sym typeface="Calibri (MS)"/>
                </a:rPr>
                <a:t>Phone / Internet</a:t>
              </a:r>
            </a:p>
            <a:p>
              <a:pPr algn="l">
                <a:lnSpc>
                  <a:spcPts val="2520"/>
                </a:lnSpc>
              </a:pPr>
              <a:r>
                <a:rPr lang="en-US" sz="2100">
                  <a:solidFill>
                    <a:srgbClr val="1F2328"/>
                  </a:solidFill>
                  <a:latin typeface="Calibri (MS)"/>
                  <a:ea typeface="Calibri (MS)"/>
                  <a:cs typeface="Calibri (MS)"/>
                  <a:sym typeface="Calibri (MS)"/>
                </a:rPr>
                <a:t>Online Security &amp; Backup</a:t>
              </a:r>
            </a:p>
            <a:p>
              <a:pPr algn="l">
                <a:lnSpc>
                  <a:spcPts val="2520"/>
                </a:lnSpc>
              </a:pPr>
              <a:r>
                <a:rPr lang="en-US" sz="2100">
                  <a:solidFill>
                    <a:srgbClr val="1F2328"/>
                  </a:solidFill>
                  <a:latin typeface="Calibri (MS)"/>
                  <a:ea typeface="Calibri (MS)"/>
                  <a:cs typeface="Calibri (MS)"/>
                  <a:sym typeface="Calibri (MS)"/>
                </a:rPr>
                <a:t>Device Protection</a:t>
              </a:r>
            </a:p>
            <a:p>
              <a:pPr algn="l">
                <a:lnSpc>
                  <a:spcPts val="2520"/>
                </a:lnSpc>
              </a:pPr>
              <a:r>
                <a:rPr lang="en-US" sz="2100">
                  <a:solidFill>
                    <a:srgbClr val="1F2328"/>
                  </a:solidFill>
                  <a:latin typeface="Calibri (MS)"/>
                  <a:ea typeface="Calibri (MS)"/>
                  <a:cs typeface="Calibri (MS)"/>
                  <a:sym typeface="Calibri (MS)"/>
                </a:rPr>
                <a:t>Tech Support</a:t>
              </a:r>
            </a:p>
            <a:p>
              <a:pPr algn="l">
                <a:lnSpc>
                  <a:spcPts val="2520"/>
                </a:lnSpc>
              </a:pPr>
              <a:r>
                <a:rPr lang="en-US" sz="2100">
                  <a:solidFill>
                    <a:srgbClr val="1F2328"/>
                  </a:solidFill>
                  <a:latin typeface="Calibri (MS)"/>
                  <a:ea typeface="Calibri (MS)"/>
                  <a:cs typeface="Calibri (MS)"/>
                  <a:sym typeface="Calibri (MS)"/>
                </a:rPr>
                <a:t>Streaming TV &amp; Movies</a:t>
              </a:r>
            </a:p>
          </p:txBody>
        </p:sp>
      </p:grpSp>
      <p:grpSp>
        <p:nvGrpSpPr>
          <p:cNvPr name="Group 18" id="18"/>
          <p:cNvGrpSpPr/>
          <p:nvPr/>
        </p:nvGrpSpPr>
        <p:grpSpPr>
          <a:xfrm rot="0">
            <a:off x="12582001" y="2700004"/>
            <a:ext cx="4050001" cy="2700004"/>
            <a:chOff x="0" y="0"/>
            <a:chExt cx="5400002" cy="3600005"/>
          </a:xfrm>
        </p:grpSpPr>
        <p:sp>
          <p:nvSpPr>
            <p:cNvPr name="Freeform 19" id="19"/>
            <p:cNvSpPr/>
            <p:nvPr/>
          </p:nvSpPr>
          <p:spPr>
            <a:xfrm flipH="false" flipV="false" rot="0">
              <a:off x="0" y="0"/>
              <a:ext cx="5400040" cy="3599942"/>
            </a:xfrm>
            <a:custGeom>
              <a:avLst/>
              <a:gdLst/>
              <a:ahLst/>
              <a:cxnLst/>
              <a:rect r="r" b="b" t="t" l="l"/>
              <a:pathLst>
                <a:path h="3599942" w="5400040">
                  <a:moveTo>
                    <a:pt x="0" y="0"/>
                  </a:moveTo>
                  <a:lnTo>
                    <a:pt x="5400040" y="0"/>
                  </a:lnTo>
                  <a:lnTo>
                    <a:pt x="5400040" y="3599942"/>
                  </a:lnTo>
                  <a:lnTo>
                    <a:pt x="0" y="3599942"/>
                  </a:lnTo>
                  <a:close/>
                </a:path>
              </a:pathLst>
            </a:custGeom>
            <a:solidFill>
              <a:srgbClr val="E8F4EC"/>
            </a:solidFill>
          </p:spPr>
        </p:sp>
        <p:sp>
          <p:nvSpPr>
            <p:cNvPr name="TextBox 20" id="20"/>
            <p:cNvSpPr txBox="true"/>
            <p:nvPr/>
          </p:nvSpPr>
          <p:spPr>
            <a:xfrm>
              <a:off x="0" y="-47625"/>
              <a:ext cx="5400002" cy="3647630"/>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Engineered Features</a:t>
              </a:r>
            </a:p>
            <a:p>
              <a:pPr algn="l">
                <a:lnSpc>
                  <a:spcPts val="2520"/>
                </a:lnSpc>
              </a:pPr>
            </a:p>
            <a:p>
              <a:pPr algn="l">
                <a:lnSpc>
                  <a:spcPts val="2520"/>
                </a:lnSpc>
              </a:pPr>
              <a:r>
                <a:rPr lang="en-US" sz="2100">
                  <a:solidFill>
                    <a:srgbClr val="1F2328"/>
                  </a:solidFill>
                  <a:latin typeface="Calibri (MS)"/>
                  <a:ea typeface="Calibri (MS)"/>
                  <a:cs typeface="Calibri (MS)"/>
                  <a:sym typeface="Calibri (MS)"/>
                </a:rPr>
                <a:t>Avg Charge / Month</a:t>
              </a:r>
            </a:p>
            <a:p>
              <a:pPr algn="l">
                <a:lnSpc>
                  <a:spcPts val="2520"/>
                </a:lnSpc>
              </a:pPr>
              <a:r>
                <a:rPr lang="en-US" sz="2100">
                  <a:solidFill>
                    <a:srgbClr val="1F2328"/>
                  </a:solidFill>
                  <a:latin typeface="Calibri (MS)"/>
                  <a:ea typeface="Calibri (MS)"/>
                  <a:cs typeface="Calibri (MS)"/>
                  <a:sym typeface="Calibri (MS)"/>
                </a:rPr>
                <a:t>Services Count</a:t>
              </a:r>
            </a:p>
            <a:p>
              <a:pPr algn="l">
                <a:lnSpc>
                  <a:spcPts val="2520"/>
                </a:lnSpc>
              </a:pPr>
              <a:r>
                <a:rPr lang="en-US" sz="2100">
                  <a:solidFill>
                    <a:srgbClr val="1F2328"/>
                  </a:solidFill>
                  <a:latin typeface="Calibri (MS)"/>
                  <a:ea typeface="Calibri (MS)"/>
                  <a:cs typeface="Calibri (MS)"/>
                  <a:sym typeface="Calibri (MS)"/>
                </a:rPr>
                <a:t>Tenure Bucket</a:t>
              </a:r>
            </a:p>
            <a:p>
              <a:pPr algn="l">
                <a:lnSpc>
                  <a:spcPts val="2520"/>
                </a:lnSpc>
              </a:pPr>
              <a:r>
                <a:rPr lang="en-US" sz="2100">
                  <a:solidFill>
                    <a:srgbClr val="1F2328"/>
                  </a:solidFill>
                  <a:latin typeface="Calibri (MS)"/>
                  <a:ea typeface="Calibri (MS)"/>
                  <a:cs typeface="Calibri (MS)"/>
                  <a:sym typeface="Calibri (MS)"/>
                </a:rPr>
                <a:t>(New, Growing, Loyal)</a:t>
              </a:r>
            </a:p>
          </p:txBody>
        </p:sp>
      </p:grpSp>
      <p:grpSp>
        <p:nvGrpSpPr>
          <p:cNvPr name="Group 21" id="21"/>
          <p:cNvGrpSpPr/>
          <p:nvPr/>
        </p:nvGrpSpPr>
        <p:grpSpPr>
          <a:xfrm rot="0">
            <a:off x="809996" y="5670004"/>
            <a:ext cx="15659995" cy="593998"/>
            <a:chOff x="0" y="0"/>
            <a:chExt cx="20879994" cy="791997"/>
          </a:xfrm>
        </p:grpSpPr>
        <p:sp>
          <p:nvSpPr>
            <p:cNvPr name="Freeform 22" id="22"/>
            <p:cNvSpPr/>
            <p:nvPr/>
          </p:nvSpPr>
          <p:spPr>
            <a:xfrm flipH="false" flipV="false" rot="0">
              <a:off x="0" y="0"/>
              <a:ext cx="20879943" cy="791972"/>
            </a:xfrm>
            <a:custGeom>
              <a:avLst/>
              <a:gdLst/>
              <a:ahLst/>
              <a:cxnLst/>
              <a:rect r="r" b="b" t="t" l="l"/>
              <a:pathLst>
                <a:path h="791972" w="20879943">
                  <a:moveTo>
                    <a:pt x="0" y="0"/>
                  </a:moveTo>
                  <a:lnTo>
                    <a:pt x="20879943" y="0"/>
                  </a:lnTo>
                  <a:lnTo>
                    <a:pt x="20879943" y="791972"/>
                  </a:lnTo>
                  <a:lnTo>
                    <a:pt x="0" y="791972"/>
                  </a:lnTo>
                  <a:close/>
                </a:path>
              </a:pathLst>
            </a:custGeom>
            <a:solidFill>
              <a:srgbClr val="EBF0FF"/>
            </a:solidFill>
          </p:spPr>
        </p:sp>
        <p:sp>
          <p:nvSpPr>
            <p:cNvPr name="TextBox 23" id="23"/>
            <p:cNvSpPr txBox="true"/>
            <p:nvPr/>
          </p:nvSpPr>
          <p:spPr>
            <a:xfrm>
              <a:off x="0" y="-38100"/>
              <a:ext cx="20879994" cy="830097"/>
            </a:xfrm>
            <a:prstGeom prst="rect">
              <a:avLst/>
            </a:prstGeom>
          </p:spPr>
          <p:txBody>
            <a:bodyPr anchor="t" rtlCol="false" tIns="50800" lIns="50800" bIns="50800" rIns="50800"/>
            <a:lstStyle/>
            <a:p>
              <a:pPr algn="l">
                <a:lnSpc>
                  <a:spcPts val="2879"/>
                </a:lnSpc>
              </a:pPr>
              <a:r>
                <a:rPr lang="en-US" sz="2400" b="true">
                  <a:solidFill>
                    <a:srgbClr val="1E2761"/>
                  </a:solidFill>
                  <a:latin typeface="Calibri (MS) Bold"/>
                  <a:ea typeface="Calibri (MS) Bold"/>
                  <a:cs typeface="Calibri (MS) Bold"/>
                  <a:sym typeface="Calibri (MS) Bold"/>
                </a:rPr>
                <a:t>Class Distribution:   Non-Churn 73.4%   vs   Churn 26.6%</a:t>
              </a:r>
            </a:p>
          </p:txBody>
        </p:sp>
      </p:grpSp>
      <p:sp>
        <p:nvSpPr>
          <p:cNvPr name="TextBox 24" id="24"/>
          <p:cNvSpPr txBox="true"/>
          <p:nvPr/>
        </p:nvSpPr>
        <p:spPr>
          <a:xfrm rot="0">
            <a:off x="901436" y="6478095"/>
            <a:ext cx="15477115" cy="766181"/>
          </a:xfrm>
          <a:prstGeom prst="rect">
            <a:avLst/>
          </a:prstGeom>
        </p:spPr>
        <p:txBody>
          <a:bodyPr anchor="t" rtlCol="false" tIns="0" lIns="0" bIns="0" rIns="0">
            <a:spAutoFit/>
          </a:bodyPr>
          <a:lstStyle/>
          <a:p>
            <a:pPr algn="l">
              <a:lnSpc>
                <a:spcPts val="2520"/>
              </a:lnSpc>
            </a:pPr>
            <a:r>
              <a:rPr lang="en-US" sz="2100">
                <a:solidFill>
                  <a:srgbClr val="57606A"/>
                </a:solidFill>
                <a:latin typeface="Calibri (MS)"/>
                <a:ea typeface="Calibri (MS)"/>
                <a:cs typeface="Calibri (MS)"/>
                <a:sym typeface="Calibri (MS)"/>
              </a:rPr>
              <a:t>Train / Test Split:  80% / 20%  (Stratified)   |   Train = 5,625 rows   |   Test = 1,407 rows   |   Imbalance Ratio 2.8:1 corrected by SMOTE inside CV folds</a:t>
            </a:r>
          </a:p>
        </p:txBody>
      </p:sp>
      <p:sp>
        <p:nvSpPr>
          <p:cNvPr name="TextBox 25" id="25"/>
          <p:cNvSpPr txBox="true"/>
          <p:nvPr/>
        </p:nvSpPr>
        <p:spPr>
          <a:xfrm rot="0">
            <a:off x="901436" y="7396096"/>
            <a:ext cx="15477115" cy="766181"/>
          </a:xfrm>
          <a:prstGeom prst="rect">
            <a:avLst/>
          </a:prstGeom>
        </p:spPr>
        <p:txBody>
          <a:bodyPr anchor="t" rtlCol="false" tIns="0" lIns="0" bIns="0" rIns="0">
            <a:spAutoFit/>
          </a:bodyPr>
          <a:lstStyle/>
          <a:p>
            <a:pPr algn="l">
              <a:lnSpc>
                <a:spcPts val="2520"/>
              </a:lnSpc>
            </a:pPr>
            <a:r>
              <a:rPr lang="en-US" sz="2100">
                <a:solidFill>
                  <a:srgbClr val="57606A"/>
                </a:solidFill>
                <a:latin typeface="Calibri (MS)"/>
                <a:ea typeface="Calibri (MS)"/>
                <a:cs typeface="Calibri (MS)"/>
                <a:sym typeface="Calibri (MS)"/>
              </a:rPr>
              <a:t>21 raw features used  +  3 engineered features (avg_charge_per_month, services_count, tenure_bucket)  +  one-hot encoding applied via ColumnTransformer</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6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Methodology &amp; ML Pipeline</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540001" y="1620002"/>
            <a:ext cx="2267998" cy="1620002"/>
            <a:chOff x="0" y="0"/>
            <a:chExt cx="3023997" cy="2160003"/>
          </a:xfrm>
        </p:grpSpPr>
        <p:sp>
          <p:nvSpPr>
            <p:cNvPr name="Freeform 7" id="7"/>
            <p:cNvSpPr/>
            <p:nvPr/>
          </p:nvSpPr>
          <p:spPr>
            <a:xfrm flipH="false" flipV="false" rot="0">
              <a:off x="0" y="0"/>
              <a:ext cx="3023997" cy="2160016"/>
            </a:xfrm>
            <a:custGeom>
              <a:avLst/>
              <a:gdLst/>
              <a:ahLst/>
              <a:cxnLst/>
              <a:rect r="r" b="b" t="t" l="l"/>
              <a:pathLst>
                <a:path h="2160016" w="3023997">
                  <a:moveTo>
                    <a:pt x="0" y="0"/>
                  </a:moveTo>
                  <a:lnTo>
                    <a:pt x="3023997" y="0"/>
                  </a:lnTo>
                  <a:lnTo>
                    <a:pt x="3023997" y="2160016"/>
                  </a:lnTo>
                  <a:lnTo>
                    <a:pt x="0" y="2160016"/>
                  </a:lnTo>
                  <a:close/>
                </a:path>
              </a:pathLst>
            </a:custGeom>
            <a:solidFill>
              <a:srgbClr val="1E2761"/>
            </a:solidFill>
          </p:spPr>
        </p:sp>
        <p:sp>
          <p:nvSpPr>
            <p:cNvPr name="TextBox 8" id="8"/>
            <p:cNvSpPr txBox="true"/>
            <p:nvPr/>
          </p:nvSpPr>
          <p:spPr>
            <a:xfrm>
              <a:off x="0" y="-47625"/>
              <a:ext cx="3023997" cy="2207628"/>
            </a:xfrm>
            <a:prstGeom prst="rect">
              <a:avLst/>
            </a:prstGeom>
          </p:spPr>
          <p:txBody>
            <a:bodyPr anchor="t" rtlCol="false" tIns="50800" lIns="50800" bIns="50800" rIns="50800"/>
            <a:lstStyle/>
            <a:p>
              <a:pPr algn="l">
                <a:lnSpc>
                  <a:spcPts val="2340"/>
                </a:lnSpc>
              </a:pPr>
              <a:r>
                <a:rPr lang="en-US" sz="1950">
                  <a:solidFill>
                    <a:srgbClr val="FFFFFF"/>
                  </a:solidFill>
                  <a:latin typeface="Calibri (MS)"/>
                  <a:ea typeface="Calibri (MS)"/>
                  <a:cs typeface="Calibri (MS)"/>
                  <a:sym typeface="Calibri (MS)"/>
                </a:rPr>
                <a:t>1</a:t>
              </a:r>
            </a:p>
            <a:p>
              <a:pPr algn="l">
                <a:lnSpc>
                  <a:spcPts val="2340"/>
                </a:lnSpc>
              </a:pPr>
              <a:r>
                <a:rPr lang="en-US" sz="1950">
                  <a:solidFill>
                    <a:srgbClr val="FFFFFF"/>
                  </a:solidFill>
                  <a:latin typeface="Calibri (MS)"/>
                  <a:ea typeface="Calibri (MS)"/>
                  <a:cs typeface="Calibri (MS)"/>
                  <a:sym typeface="Calibri (MS)"/>
                </a:rPr>
                <a:t>Data Collection</a:t>
              </a:r>
            </a:p>
            <a:p>
              <a:pPr algn="l">
                <a:lnSpc>
                  <a:spcPts val="2340"/>
                </a:lnSpc>
              </a:pPr>
              <a:r>
                <a:rPr lang="en-US" sz="1950">
                  <a:solidFill>
                    <a:srgbClr val="FFFFFF"/>
                  </a:solidFill>
                  <a:latin typeface="Calibri (MS)"/>
                  <a:ea typeface="Calibri (MS)"/>
                  <a:cs typeface="Calibri (MS)"/>
                  <a:sym typeface="Calibri (MS)"/>
                </a:rPr>
                <a:t>&amp; Cleaning</a:t>
              </a:r>
            </a:p>
          </p:txBody>
        </p:sp>
      </p:grpSp>
      <p:sp>
        <p:nvSpPr>
          <p:cNvPr name="TextBox 9" id="9"/>
          <p:cNvSpPr txBox="true"/>
          <p:nvPr/>
        </p:nvSpPr>
        <p:spPr>
          <a:xfrm rot="0">
            <a:off x="3007443" y="2069144"/>
            <a:ext cx="303124" cy="585130"/>
          </a:xfrm>
          <a:prstGeom prst="rect">
            <a:avLst/>
          </a:prstGeom>
        </p:spPr>
        <p:txBody>
          <a:bodyPr anchor="t" rtlCol="false" tIns="0" lIns="0" bIns="0" rIns="0">
            <a:spAutoFit/>
          </a:bodyPr>
          <a:lstStyle/>
          <a:p>
            <a:pPr algn="l">
              <a:lnSpc>
                <a:spcPts val="1980"/>
              </a:lnSpc>
            </a:pPr>
            <a:r>
              <a:rPr lang="en-US" sz="1650">
                <a:solidFill>
                  <a:srgbClr val="1E2761"/>
                </a:solidFill>
                <a:latin typeface="Calibri (MS)"/>
                <a:ea typeface="Calibri (MS)"/>
                <a:cs typeface="Calibri (MS)"/>
                <a:sym typeface="Calibri (MS)"/>
              </a:rPr>
              <a:t>&gt;&gt;&gt;</a:t>
            </a:r>
          </a:p>
        </p:txBody>
      </p:sp>
      <p:grpSp>
        <p:nvGrpSpPr>
          <p:cNvPr name="Group 10" id="10"/>
          <p:cNvGrpSpPr/>
          <p:nvPr/>
        </p:nvGrpSpPr>
        <p:grpSpPr>
          <a:xfrm rot="0">
            <a:off x="3510001" y="1620002"/>
            <a:ext cx="2267998" cy="1620002"/>
            <a:chOff x="0" y="0"/>
            <a:chExt cx="3023997" cy="2160003"/>
          </a:xfrm>
        </p:grpSpPr>
        <p:sp>
          <p:nvSpPr>
            <p:cNvPr name="Freeform 11" id="11"/>
            <p:cNvSpPr/>
            <p:nvPr/>
          </p:nvSpPr>
          <p:spPr>
            <a:xfrm flipH="false" flipV="false" rot="0">
              <a:off x="0" y="0"/>
              <a:ext cx="3023997" cy="2160016"/>
            </a:xfrm>
            <a:custGeom>
              <a:avLst/>
              <a:gdLst/>
              <a:ahLst/>
              <a:cxnLst/>
              <a:rect r="r" b="b" t="t" l="l"/>
              <a:pathLst>
                <a:path h="2160016" w="3023997">
                  <a:moveTo>
                    <a:pt x="0" y="0"/>
                  </a:moveTo>
                  <a:lnTo>
                    <a:pt x="3023997" y="0"/>
                  </a:lnTo>
                  <a:lnTo>
                    <a:pt x="3023997" y="2160016"/>
                  </a:lnTo>
                  <a:lnTo>
                    <a:pt x="0" y="2160016"/>
                  </a:lnTo>
                  <a:close/>
                </a:path>
              </a:pathLst>
            </a:custGeom>
            <a:solidFill>
              <a:srgbClr val="1E2761"/>
            </a:solidFill>
          </p:spPr>
        </p:sp>
        <p:sp>
          <p:nvSpPr>
            <p:cNvPr name="TextBox 12" id="12"/>
            <p:cNvSpPr txBox="true"/>
            <p:nvPr/>
          </p:nvSpPr>
          <p:spPr>
            <a:xfrm>
              <a:off x="0" y="-47625"/>
              <a:ext cx="3023997" cy="2207628"/>
            </a:xfrm>
            <a:prstGeom prst="rect">
              <a:avLst/>
            </a:prstGeom>
          </p:spPr>
          <p:txBody>
            <a:bodyPr anchor="t" rtlCol="false" tIns="50800" lIns="50800" bIns="50800" rIns="50800"/>
            <a:lstStyle/>
            <a:p>
              <a:pPr algn="l">
                <a:lnSpc>
                  <a:spcPts val="2340"/>
                </a:lnSpc>
              </a:pPr>
              <a:r>
                <a:rPr lang="en-US" sz="1950">
                  <a:solidFill>
                    <a:srgbClr val="FFFFFF"/>
                  </a:solidFill>
                  <a:latin typeface="Calibri (MS)"/>
                  <a:ea typeface="Calibri (MS)"/>
                  <a:cs typeface="Calibri (MS)"/>
                  <a:sym typeface="Calibri (MS)"/>
                </a:rPr>
                <a:t>2</a:t>
              </a:r>
            </a:p>
            <a:p>
              <a:pPr algn="l">
                <a:lnSpc>
                  <a:spcPts val="2340"/>
                </a:lnSpc>
              </a:pPr>
              <a:r>
                <a:rPr lang="en-US" sz="1950">
                  <a:solidFill>
                    <a:srgbClr val="FFFFFF"/>
                  </a:solidFill>
                  <a:latin typeface="Calibri (MS)"/>
                  <a:ea typeface="Calibri (MS)"/>
                  <a:cs typeface="Calibri (MS)"/>
                  <a:sym typeface="Calibri (MS)"/>
                </a:rPr>
                <a:t>Feature</a:t>
              </a:r>
            </a:p>
            <a:p>
              <a:pPr algn="l">
                <a:lnSpc>
                  <a:spcPts val="2340"/>
                </a:lnSpc>
              </a:pPr>
              <a:r>
                <a:rPr lang="en-US" sz="1950">
                  <a:solidFill>
                    <a:srgbClr val="FFFFFF"/>
                  </a:solidFill>
                  <a:latin typeface="Calibri (MS)"/>
                  <a:ea typeface="Calibri (MS)"/>
                  <a:cs typeface="Calibri (MS)"/>
                  <a:sym typeface="Calibri (MS)"/>
                </a:rPr>
                <a:t>Engineering</a:t>
              </a:r>
            </a:p>
          </p:txBody>
        </p:sp>
      </p:grpSp>
      <p:sp>
        <p:nvSpPr>
          <p:cNvPr name="TextBox 13" id="13"/>
          <p:cNvSpPr txBox="true"/>
          <p:nvPr/>
        </p:nvSpPr>
        <p:spPr>
          <a:xfrm rot="0">
            <a:off x="5977442" y="2069144"/>
            <a:ext cx="303124" cy="585130"/>
          </a:xfrm>
          <a:prstGeom prst="rect">
            <a:avLst/>
          </a:prstGeom>
        </p:spPr>
        <p:txBody>
          <a:bodyPr anchor="t" rtlCol="false" tIns="0" lIns="0" bIns="0" rIns="0">
            <a:spAutoFit/>
          </a:bodyPr>
          <a:lstStyle/>
          <a:p>
            <a:pPr algn="l">
              <a:lnSpc>
                <a:spcPts val="1980"/>
              </a:lnSpc>
            </a:pPr>
            <a:r>
              <a:rPr lang="en-US" sz="1650">
                <a:solidFill>
                  <a:srgbClr val="1E2761"/>
                </a:solidFill>
                <a:latin typeface="Calibri (MS)"/>
                <a:ea typeface="Calibri (MS)"/>
                <a:cs typeface="Calibri (MS)"/>
                <a:sym typeface="Calibri (MS)"/>
              </a:rPr>
              <a:t>&gt;&gt;&gt;</a:t>
            </a:r>
          </a:p>
        </p:txBody>
      </p:sp>
      <p:grpSp>
        <p:nvGrpSpPr>
          <p:cNvPr name="Group 14" id="14"/>
          <p:cNvGrpSpPr/>
          <p:nvPr/>
        </p:nvGrpSpPr>
        <p:grpSpPr>
          <a:xfrm rot="0">
            <a:off x="6480000" y="1620002"/>
            <a:ext cx="2267998" cy="1620002"/>
            <a:chOff x="0" y="0"/>
            <a:chExt cx="3023997" cy="2160003"/>
          </a:xfrm>
        </p:grpSpPr>
        <p:sp>
          <p:nvSpPr>
            <p:cNvPr name="Freeform 15" id="15"/>
            <p:cNvSpPr/>
            <p:nvPr/>
          </p:nvSpPr>
          <p:spPr>
            <a:xfrm flipH="false" flipV="false" rot="0">
              <a:off x="0" y="0"/>
              <a:ext cx="3023997" cy="2160016"/>
            </a:xfrm>
            <a:custGeom>
              <a:avLst/>
              <a:gdLst/>
              <a:ahLst/>
              <a:cxnLst/>
              <a:rect r="r" b="b" t="t" l="l"/>
              <a:pathLst>
                <a:path h="2160016" w="3023997">
                  <a:moveTo>
                    <a:pt x="0" y="0"/>
                  </a:moveTo>
                  <a:lnTo>
                    <a:pt x="3023997" y="0"/>
                  </a:lnTo>
                  <a:lnTo>
                    <a:pt x="3023997" y="2160016"/>
                  </a:lnTo>
                  <a:lnTo>
                    <a:pt x="0" y="2160016"/>
                  </a:lnTo>
                  <a:close/>
                </a:path>
              </a:pathLst>
            </a:custGeom>
            <a:solidFill>
              <a:srgbClr val="1E2761"/>
            </a:solidFill>
          </p:spPr>
        </p:sp>
        <p:sp>
          <p:nvSpPr>
            <p:cNvPr name="TextBox 16" id="16"/>
            <p:cNvSpPr txBox="true"/>
            <p:nvPr/>
          </p:nvSpPr>
          <p:spPr>
            <a:xfrm>
              <a:off x="0" y="-47625"/>
              <a:ext cx="3023997" cy="2207628"/>
            </a:xfrm>
            <a:prstGeom prst="rect">
              <a:avLst/>
            </a:prstGeom>
          </p:spPr>
          <p:txBody>
            <a:bodyPr anchor="t" rtlCol="false" tIns="50800" lIns="50800" bIns="50800" rIns="50800"/>
            <a:lstStyle/>
            <a:p>
              <a:pPr algn="l">
                <a:lnSpc>
                  <a:spcPts val="2340"/>
                </a:lnSpc>
              </a:pPr>
              <a:r>
                <a:rPr lang="en-US" sz="1950">
                  <a:solidFill>
                    <a:srgbClr val="FFFFFF"/>
                  </a:solidFill>
                  <a:latin typeface="Calibri (MS)"/>
                  <a:ea typeface="Calibri (MS)"/>
                  <a:cs typeface="Calibri (MS)"/>
                  <a:sym typeface="Calibri (MS)"/>
                </a:rPr>
                <a:t>3</a:t>
              </a:r>
            </a:p>
            <a:p>
              <a:pPr algn="l">
                <a:lnSpc>
                  <a:spcPts val="2340"/>
                </a:lnSpc>
              </a:pPr>
              <a:r>
                <a:rPr lang="en-US" sz="1950">
                  <a:solidFill>
                    <a:srgbClr val="FFFFFF"/>
                  </a:solidFill>
                  <a:latin typeface="Calibri (MS)"/>
                  <a:ea typeface="Calibri (MS)"/>
                  <a:cs typeface="Calibri (MS)"/>
                  <a:sym typeface="Calibri (MS)"/>
                </a:rPr>
                <a:t>EDA &amp;</a:t>
              </a:r>
            </a:p>
            <a:p>
              <a:pPr algn="l">
                <a:lnSpc>
                  <a:spcPts val="2340"/>
                </a:lnSpc>
              </a:pPr>
              <a:r>
                <a:rPr lang="en-US" sz="1950">
                  <a:solidFill>
                    <a:srgbClr val="FFFFFF"/>
                  </a:solidFill>
                  <a:latin typeface="Calibri (MS)"/>
                  <a:ea typeface="Calibri (MS)"/>
                  <a:cs typeface="Calibri (MS)"/>
                  <a:sym typeface="Calibri (MS)"/>
                </a:rPr>
                <a:t>Visualization</a:t>
              </a:r>
            </a:p>
          </p:txBody>
        </p:sp>
      </p:grpSp>
      <p:sp>
        <p:nvSpPr>
          <p:cNvPr name="TextBox 17" id="17"/>
          <p:cNvSpPr txBox="true"/>
          <p:nvPr/>
        </p:nvSpPr>
        <p:spPr>
          <a:xfrm rot="0">
            <a:off x="8947442" y="2069144"/>
            <a:ext cx="303124" cy="585130"/>
          </a:xfrm>
          <a:prstGeom prst="rect">
            <a:avLst/>
          </a:prstGeom>
        </p:spPr>
        <p:txBody>
          <a:bodyPr anchor="t" rtlCol="false" tIns="0" lIns="0" bIns="0" rIns="0">
            <a:spAutoFit/>
          </a:bodyPr>
          <a:lstStyle/>
          <a:p>
            <a:pPr algn="l">
              <a:lnSpc>
                <a:spcPts val="1980"/>
              </a:lnSpc>
            </a:pPr>
            <a:r>
              <a:rPr lang="en-US" sz="1650">
                <a:solidFill>
                  <a:srgbClr val="1E2761"/>
                </a:solidFill>
                <a:latin typeface="Calibri (MS)"/>
                <a:ea typeface="Calibri (MS)"/>
                <a:cs typeface="Calibri (MS)"/>
                <a:sym typeface="Calibri (MS)"/>
              </a:rPr>
              <a:t>&gt;&gt;&gt;</a:t>
            </a:r>
          </a:p>
        </p:txBody>
      </p:sp>
      <p:grpSp>
        <p:nvGrpSpPr>
          <p:cNvPr name="Group 18" id="18"/>
          <p:cNvGrpSpPr/>
          <p:nvPr/>
        </p:nvGrpSpPr>
        <p:grpSpPr>
          <a:xfrm rot="0">
            <a:off x="9450000" y="1620002"/>
            <a:ext cx="2267998" cy="1620002"/>
            <a:chOff x="0" y="0"/>
            <a:chExt cx="3023997" cy="2160003"/>
          </a:xfrm>
        </p:grpSpPr>
        <p:sp>
          <p:nvSpPr>
            <p:cNvPr name="Freeform 19" id="19"/>
            <p:cNvSpPr/>
            <p:nvPr/>
          </p:nvSpPr>
          <p:spPr>
            <a:xfrm flipH="false" flipV="false" rot="0">
              <a:off x="0" y="0"/>
              <a:ext cx="3023997" cy="2160016"/>
            </a:xfrm>
            <a:custGeom>
              <a:avLst/>
              <a:gdLst/>
              <a:ahLst/>
              <a:cxnLst/>
              <a:rect r="r" b="b" t="t" l="l"/>
              <a:pathLst>
                <a:path h="2160016" w="3023997">
                  <a:moveTo>
                    <a:pt x="0" y="0"/>
                  </a:moveTo>
                  <a:lnTo>
                    <a:pt x="3023997" y="0"/>
                  </a:lnTo>
                  <a:lnTo>
                    <a:pt x="3023997" y="2160016"/>
                  </a:lnTo>
                  <a:lnTo>
                    <a:pt x="0" y="2160016"/>
                  </a:lnTo>
                  <a:close/>
                </a:path>
              </a:pathLst>
            </a:custGeom>
            <a:solidFill>
              <a:srgbClr val="1E2761"/>
            </a:solidFill>
          </p:spPr>
        </p:sp>
        <p:sp>
          <p:nvSpPr>
            <p:cNvPr name="TextBox 20" id="20"/>
            <p:cNvSpPr txBox="true"/>
            <p:nvPr/>
          </p:nvSpPr>
          <p:spPr>
            <a:xfrm>
              <a:off x="0" y="-47625"/>
              <a:ext cx="3023997" cy="2207628"/>
            </a:xfrm>
            <a:prstGeom prst="rect">
              <a:avLst/>
            </a:prstGeom>
          </p:spPr>
          <p:txBody>
            <a:bodyPr anchor="t" rtlCol="false" tIns="50800" lIns="50800" bIns="50800" rIns="50800"/>
            <a:lstStyle/>
            <a:p>
              <a:pPr algn="l">
                <a:lnSpc>
                  <a:spcPts val="2340"/>
                </a:lnSpc>
              </a:pPr>
              <a:r>
                <a:rPr lang="en-US" sz="1950">
                  <a:solidFill>
                    <a:srgbClr val="FFFFFF"/>
                  </a:solidFill>
                  <a:latin typeface="Calibri (MS)"/>
                  <a:ea typeface="Calibri (MS)"/>
                  <a:cs typeface="Calibri (MS)"/>
                  <a:sym typeface="Calibri (MS)"/>
                </a:rPr>
                <a:t>4</a:t>
              </a:r>
            </a:p>
            <a:p>
              <a:pPr algn="l">
                <a:lnSpc>
                  <a:spcPts val="2340"/>
                </a:lnSpc>
              </a:pPr>
              <a:r>
                <a:rPr lang="en-US" sz="1950">
                  <a:solidFill>
                    <a:srgbClr val="FFFFFF"/>
                  </a:solidFill>
                  <a:latin typeface="Calibri (MS)"/>
                  <a:ea typeface="Calibri (MS)"/>
                  <a:cs typeface="Calibri (MS)"/>
                  <a:sym typeface="Calibri (MS)"/>
                </a:rPr>
                <a:t>SMOTE +</a:t>
              </a:r>
            </a:p>
            <a:p>
              <a:pPr algn="l">
                <a:lnSpc>
                  <a:spcPts val="2340"/>
                </a:lnSpc>
              </a:pPr>
              <a:r>
                <a:rPr lang="en-US" sz="1950">
                  <a:solidFill>
                    <a:srgbClr val="FFFFFF"/>
                  </a:solidFill>
                  <a:latin typeface="Calibri (MS)"/>
                  <a:ea typeface="Calibri (MS)"/>
                  <a:cs typeface="Calibri (MS)"/>
                  <a:sym typeface="Calibri (MS)"/>
                </a:rPr>
                <a:t>Model Training</a:t>
              </a:r>
            </a:p>
          </p:txBody>
        </p:sp>
      </p:grpSp>
      <p:sp>
        <p:nvSpPr>
          <p:cNvPr name="TextBox 21" id="21"/>
          <p:cNvSpPr txBox="true"/>
          <p:nvPr/>
        </p:nvSpPr>
        <p:spPr>
          <a:xfrm rot="0">
            <a:off x="11917442" y="2069144"/>
            <a:ext cx="303124" cy="585130"/>
          </a:xfrm>
          <a:prstGeom prst="rect">
            <a:avLst/>
          </a:prstGeom>
        </p:spPr>
        <p:txBody>
          <a:bodyPr anchor="t" rtlCol="false" tIns="0" lIns="0" bIns="0" rIns="0">
            <a:spAutoFit/>
          </a:bodyPr>
          <a:lstStyle/>
          <a:p>
            <a:pPr algn="l">
              <a:lnSpc>
                <a:spcPts val="1980"/>
              </a:lnSpc>
            </a:pPr>
            <a:r>
              <a:rPr lang="en-US" sz="1650">
                <a:solidFill>
                  <a:srgbClr val="1E2761"/>
                </a:solidFill>
                <a:latin typeface="Calibri (MS)"/>
                <a:ea typeface="Calibri (MS)"/>
                <a:cs typeface="Calibri (MS)"/>
                <a:sym typeface="Calibri (MS)"/>
              </a:rPr>
              <a:t>&gt;&gt;&gt;</a:t>
            </a:r>
          </a:p>
        </p:txBody>
      </p:sp>
      <p:grpSp>
        <p:nvGrpSpPr>
          <p:cNvPr name="Group 22" id="22"/>
          <p:cNvGrpSpPr/>
          <p:nvPr/>
        </p:nvGrpSpPr>
        <p:grpSpPr>
          <a:xfrm rot="0">
            <a:off x="12420000" y="1620002"/>
            <a:ext cx="2267998" cy="1620002"/>
            <a:chOff x="0" y="0"/>
            <a:chExt cx="3023997" cy="2160003"/>
          </a:xfrm>
        </p:grpSpPr>
        <p:sp>
          <p:nvSpPr>
            <p:cNvPr name="Freeform 23" id="23"/>
            <p:cNvSpPr/>
            <p:nvPr/>
          </p:nvSpPr>
          <p:spPr>
            <a:xfrm flipH="false" flipV="false" rot="0">
              <a:off x="0" y="0"/>
              <a:ext cx="3023997" cy="2160016"/>
            </a:xfrm>
            <a:custGeom>
              <a:avLst/>
              <a:gdLst/>
              <a:ahLst/>
              <a:cxnLst/>
              <a:rect r="r" b="b" t="t" l="l"/>
              <a:pathLst>
                <a:path h="2160016" w="3023997">
                  <a:moveTo>
                    <a:pt x="0" y="0"/>
                  </a:moveTo>
                  <a:lnTo>
                    <a:pt x="3023997" y="0"/>
                  </a:lnTo>
                  <a:lnTo>
                    <a:pt x="3023997" y="2160016"/>
                  </a:lnTo>
                  <a:lnTo>
                    <a:pt x="0" y="2160016"/>
                  </a:lnTo>
                  <a:close/>
                </a:path>
              </a:pathLst>
            </a:custGeom>
            <a:solidFill>
              <a:srgbClr val="3B82D4"/>
            </a:solidFill>
          </p:spPr>
        </p:sp>
        <p:sp>
          <p:nvSpPr>
            <p:cNvPr name="TextBox 24" id="24"/>
            <p:cNvSpPr txBox="true"/>
            <p:nvPr/>
          </p:nvSpPr>
          <p:spPr>
            <a:xfrm>
              <a:off x="0" y="-47625"/>
              <a:ext cx="3023997" cy="2207628"/>
            </a:xfrm>
            <a:prstGeom prst="rect">
              <a:avLst/>
            </a:prstGeom>
          </p:spPr>
          <p:txBody>
            <a:bodyPr anchor="t" rtlCol="false" tIns="50800" lIns="50800" bIns="50800" rIns="50800"/>
            <a:lstStyle/>
            <a:p>
              <a:pPr algn="l">
                <a:lnSpc>
                  <a:spcPts val="2340"/>
                </a:lnSpc>
              </a:pPr>
              <a:r>
                <a:rPr lang="en-US" sz="1950">
                  <a:solidFill>
                    <a:srgbClr val="FFFFFF"/>
                  </a:solidFill>
                  <a:latin typeface="Calibri (MS)"/>
                  <a:ea typeface="Calibri (MS)"/>
                  <a:cs typeface="Calibri (MS)"/>
                  <a:sym typeface="Calibri (MS)"/>
                </a:rPr>
                <a:t>5</a:t>
              </a:r>
            </a:p>
            <a:p>
              <a:pPr algn="l">
                <a:lnSpc>
                  <a:spcPts val="2340"/>
                </a:lnSpc>
              </a:pPr>
              <a:r>
                <a:rPr lang="en-US" sz="1950">
                  <a:solidFill>
                    <a:srgbClr val="FFFFFF"/>
                  </a:solidFill>
                  <a:latin typeface="Calibri (MS)"/>
                  <a:ea typeface="Calibri (MS)"/>
                  <a:cs typeface="Calibri (MS)"/>
                  <a:sym typeface="Calibri (MS)"/>
                </a:rPr>
                <a:t>Threshold</a:t>
              </a:r>
            </a:p>
            <a:p>
              <a:pPr algn="l">
                <a:lnSpc>
                  <a:spcPts val="2340"/>
                </a:lnSpc>
              </a:pPr>
              <a:r>
                <a:rPr lang="en-US" sz="1950">
                  <a:solidFill>
                    <a:srgbClr val="FFFFFF"/>
                  </a:solidFill>
                  <a:latin typeface="Calibri (MS)"/>
                  <a:ea typeface="Calibri (MS)"/>
                  <a:cs typeface="Calibri (MS)"/>
                  <a:sym typeface="Calibri (MS)"/>
                </a:rPr>
                <a:t>Optimization</a:t>
              </a:r>
            </a:p>
          </p:txBody>
        </p:sp>
      </p:grpSp>
      <p:grpSp>
        <p:nvGrpSpPr>
          <p:cNvPr name="Group 25" id="25"/>
          <p:cNvGrpSpPr/>
          <p:nvPr/>
        </p:nvGrpSpPr>
        <p:grpSpPr>
          <a:xfrm rot="0">
            <a:off x="540001" y="3672002"/>
            <a:ext cx="2267998" cy="1620002"/>
            <a:chOff x="0" y="0"/>
            <a:chExt cx="3023997" cy="2160003"/>
          </a:xfrm>
        </p:grpSpPr>
        <p:sp>
          <p:nvSpPr>
            <p:cNvPr name="Freeform 26" id="26"/>
            <p:cNvSpPr/>
            <p:nvPr/>
          </p:nvSpPr>
          <p:spPr>
            <a:xfrm flipH="false" flipV="false" rot="0">
              <a:off x="0" y="0"/>
              <a:ext cx="3023997" cy="2160016"/>
            </a:xfrm>
            <a:custGeom>
              <a:avLst/>
              <a:gdLst/>
              <a:ahLst/>
              <a:cxnLst/>
              <a:rect r="r" b="b" t="t" l="l"/>
              <a:pathLst>
                <a:path h="2160016" w="3023997">
                  <a:moveTo>
                    <a:pt x="0" y="0"/>
                  </a:moveTo>
                  <a:lnTo>
                    <a:pt x="3023997" y="0"/>
                  </a:lnTo>
                  <a:lnTo>
                    <a:pt x="3023997" y="2160016"/>
                  </a:lnTo>
                  <a:lnTo>
                    <a:pt x="0" y="2160016"/>
                  </a:lnTo>
                  <a:close/>
                </a:path>
              </a:pathLst>
            </a:custGeom>
            <a:solidFill>
              <a:srgbClr val="3B82D4"/>
            </a:solidFill>
          </p:spPr>
        </p:sp>
        <p:sp>
          <p:nvSpPr>
            <p:cNvPr name="TextBox 27" id="27"/>
            <p:cNvSpPr txBox="true"/>
            <p:nvPr/>
          </p:nvSpPr>
          <p:spPr>
            <a:xfrm>
              <a:off x="0" y="-47625"/>
              <a:ext cx="3023997" cy="2207628"/>
            </a:xfrm>
            <a:prstGeom prst="rect">
              <a:avLst/>
            </a:prstGeom>
          </p:spPr>
          <p:txBody>
            <a:bodyPr anchor="t" rtlCol="false" tIns="50800" lIns="50800" bIns="50800" rIns="50800"/>
            <a:lstStyle/>
            <a:p>
              <a:pPr algn="l">
                <a:lnSpc>
                  <a:spcPts val="2340"/>
                </a:lnSpc>
              </a:pPr>
              <a:r>
                <a:rPr lang="en-US" sz="1950">
                  <a:solidFill>
                    <a:srgbClr val="FFFFFF"/>
                  </a:solidFill>
                  <a:latin typeface="Calibri (MS)"/>
                  <a:ea typeface="Calibri (MS)"/>
                  <a:cs typeface="Calibri (MS)"/>
                  <a:sym typeface="Calibri (MS)"/>
                </a:rPr>
                <a:t>6</a:t>
              </a:r>
            </a:p>
            <a:p>
              <a:pPr algn="l">
                <a:lnSpc>
                  <a:spcPts val="2340"/>
                </a:lnSpc>
              </a:pPr>
              <a:r>
                <a:rPr lang="en-US" sz="1950">
                  <a:solidFill>
                    <a:srgbClr val="FFFFFF"/>
                  </a:solidFill>
                  <a:latin typeface="Calibri (MS)"/>
                  <a:ea typeface="Calibri (MS)"/>
                  <a:cs typeface="Calibri (MS)"/>
                  <a:sym typeface="Calibri (MS)"/>
                </a:rPr>
                <a:t>SHAP</a:t>
              </a:r>
            </a:p>
            <a:p>
              <a:pPr algn="l">
                <a:lnSpc>
                  <a:spcPts val="2340"/>
                </a:lnSpc>
              </a:pPr>
              <a:r>
                <a:rPr lang="en-US" sz="1950">
                  <a:solidFill>
                    <a:srgbClr val="FFFFFF"/>
                  </a:solidFill>
                  <a:latin typeface="Calibri (MS)"/>
                  <a:ea typeface="Calibri (MS)"/>
                  <a:cs typeface="Calibri (MS)"/>
                  <a:sym typeface="Calibri (MS)"/>
                </a:rPr>
                <a:t>Explainability</a:t>
              </a:r>
            </a:p>
          </p:txBody>
        </p:sp>
      </p:grpSp>
      <p:grpSp>
        <p:nvGrpSpPr>
          <p:cNvPr name="Group 28" id="28"/>
          <p:cNvGrpSpPr/>
          <p:nvPr/>
        </p:nvGrpSpPr>
        <p:grpSpPr>
          <a:xfrm rot="0">
            <a:off x="3510001" y="3672002"/>
            <a:ext cx="2267998" cy="1620002"/>
            <a:chOff x="0" y="0"/>
            <a:chExt cx="3023997" cy="2160003"/>
          </a:xfrm>
        </p:grpSpPr>
        <p:sp>
          <p:nvSpPr>
            <p:cNvPr name="Freeform 29" id="29"/>
            <p:cNvSpPr/>
            <p:nvPr/>
          </p:nvSpPr>
          <p:spPr>
            <a:xfrm flipH="false" flipV="false" rot="0">
              <a:off x="0" y="0"/>
              <a:ext cx="3023997" cy="2160016"/>
            </a:xfrm>
            <a:custGeom>
              <a:avLst/>
              <a:gdLst/>
              <a:ahLst/>
              <a:cxnLst/>
              <a:rect r="r" b="b" t="t" l="l"/>
              <a:pathLst>
                <a:path h="2160016" w="3023997">
                  <a:moveTo>
                    <a:pt x="0" y="0"/>
                  </a:moveTo>
                  <a:lnTo>
                    <a:pt x="3023997" y="0"/>
                  </a:lnTo>
                  <a:lnTo>
                    <a:pt x="3023997" y="2160016"/>
                  </a:lnTo>
                  <a:lnTo>
                    <a:pt x="0" y="2160016"/>
                  </a:lnTo>
                  <a:close/>
                </a:path>
              </a:pathLst>
            </a:custGeom>
            <a:solidFill>
              <a:srgbClr val="1B5E35"/>
            </a:solidFill>
          </p:spPr>
        </p:sp>
        <p:sp>
          <p:nvSpPr>
            <p:cNvPr name="TextBox 30" id="30"/>
            <p:cNvSpPr txBox="true"/>
            <p:nvPr/>
          </p:nvSpPr>
          <p:spPr>
            <a:xfrm>
              <a:off x="0" y="-47625"/>
              <a:ext cx="3023997" cy="2207628"/>
            </a:xfrm>
            <a:prstGeom prst="rect">
              <a:avLst/>
            </a:prstGeom>
          </p:spPr>
          <p:txBody>
            <a:bodyPr anchor="t" rtlCol="false" tIns="50800" lIns="50800" bIns="50800" rIns="50800"/>
            <a:lstStyle/>
            <a:p>
              <a:pPr algn="l">
                <a:lnSpc>
                  <a:spcPts val="2340"/>
                </a:lnSpc>
              </a:pPr>
              <a:r>
                <a:rPr lang="en-US" sz="1950">
                  <a:solidFill>
                    <a:srgbClr val="FFFFFF"/>
                  </a:solidFill>
                  <a:latin typeface="Calibri (MS)"/>
                  <a:ea typeface="Calibri (MS)"/>
                  <a:cs typeface="Calibri (MS)"/>
                  <a:sym typeface="Calibri (MS)"/>
                </a:rPr>
                <a:t>7</a:t>
              </a:r>
            </a:p>
            <a:p>
              <a:pPr algn="l">
                <a:lnSpc>
                  <a:spcPts val="2340"/>
                </a:lnSpc>
              </a:pPr>
              <a:r>
                <a:rPr lang="en-US" sz="1950">
                  <a:solidFill>
                    <a:srgbClr val="FFFFFF"/>
                  </a:solidFill>
                  <a:latin typeface="Calibri (MS)"/>
                  <a:ea typeface="Calibri (MS)"/>
                  <a:cs typeface="Calibri (MS)"/>
                  <a:sym typeface="Calibri (MS)"/>
                </a:rPr>
                <a:t>Deploy API</a:t>
              </a:r>
            </a:p>
            <a:p>
              <a:pPr algn="l">
                <a:lnSpc>
                  <a:spcPts val="2340"/>
                </a:lnSpc>
              </a:pPr>
              <a:r>
                <a:rPr lang="en-US" sz="1950">
                  <a:solidFill>
                    <a:srgbClr val="FFFFFF"/>
                  </a:solidFill>
                  <a:latin typeface="Calibri (MS)"/>
                  <a:ea typeface="Calibri (MS)"/>
                  <a:cs typeface="Calibri (MS)"/>
                  <a:sym typeface="Calibri (MS)"/>
                </a:rPr>
                <a:t>+ Dashboard</a:t>
              </a:r>
            </a:p>
          </p:txBody>
        </p:sp>
      </p:grpSp>
      <p:sp>
        <p:nvSpPr>
          <p:cNvPr name="TextBox 31" id="31"/>
          <p:cNvSpPr txBox="true"/>
          <p:nvPr/>
        </p:nvSpPr>
        <p:spPr>
          <a:xfrm rot="0">
            <a:off x="631441" y="5658574"/>
            <a:ext cx="15477115" cy="505711"/>
          </a:xfrm>
          <a:prstGeom prst="rect">
            <a:avLst/>
          </a:prstGeom>
        </p:spPr>
        <p:txBody>
          <a:bodyPr anchor="t" rtlCol="false" tIns="0" lIns="0" bIns="0" rIns="0">
            <a:spAutoFit/>
          </a:bodyPr>
          <a:lstStyle/>
          <a:p>
            <a:pPr algn="l">
              <a:lnSpc>
                <a:spcPts val="2700"/>
              </a:lnSpc>
            </a:pPr>
            <a:r>
              <a:rPr lang="en-US" sz="2250" b="true">
                <a:solidFill>
                  <a:srgbClr val="1E2761"/>
                </a:solidFill>
                <a:latin typeface="Calibri (MS) Bold"/>
                <a:ea typeface="Calibri (MS) Bold"/>
                <a:cs typeface="Calibri (MS) Bold"/>
                <a:sym typeface="Calibri (MS) Bold"/>
              </a:rPr>
              <a:t>Key Design Decision — SMOTE applied INSIDE cross-validation folds using imblearn.Pipeline</a:t>
            </a:r>
          </a:p>
        </p:txBody>
      </p:sp>
      <p:sp>
        <p:nvSpPr>
          <p:cNvPr name="TextBox 32" id="32"/>
          <p:cNvSpPr txBox="true"/>
          <p:nvPr/>
        </p:nvSpPr>
        <p:spPr>
          <a:xfrm rot="0">
            <a:off x="631441" y="6208100"/>
            <a:ext cx="15477115" cy="496186"/>
          </a:xfrm>
          <a:prstGeom prst="rect">
            <a:avLst/>
          </a:prstGeom>
        </p:spPr>
        <p:txBody>
          <a:bodyPr anchor="t" rtlCol="false" tIns="0" lIns="0" bIns="0" rIns="0">
            <a:spAutoFit/>
          </a:bodyPr>
          <a:lstStyle/>
          <a:p>
            <a:pPr algn="l">
              <a:lnSpc>
                <a:spcPts val="2520"/>
              </a:lnSpc>
            </a:pPr>
            <a:r>
              <a:rPr lang="en-US" sz="2100">
                <a:solidFill>
                  <a:srgbClr val="57606A"/>
                </a:solidFill>
                <a:latin typeface="Calibri (MS)"/>
                <a:ea typeface="Calibri (MS)"/>
                <a:cs typeface="Calibri (MS)"/>
                <a:sym typeface="Calibri (MS)"/>
              </a:rPr>
              <a:t>Prevents data leakage  |  SMOTE only sees training data, never validation data  |  Correct evaluation guaranteed</a:t>
            </a:r>
          </a:p>
        </p:txBody>
      </p:sp>
      <p:grpSp>
        <p:nvGrpSpPr>
          <p:cNvPr name="Group 33" id="33"/>
          <p:cNvGrpSpPr/>
          <p:nvPr/>
        </p:nvGrpSpPr>
        <p:grpSpPr>
          <a:xfrm rot="0">
            <a:off x="540001" y="6858000"/>
            <a:ext cx="15659995" cy="1187996"/>
            <a:chOff x="0" y="0"/>
            <a:chExt cx="20879994" cy="1583995"/>
          </a:xfrm>
        </p:grpSpPr>
        <p:sp>
          <p:nvSpPr>
            <p:cNvPr name="Freeform 34" id="34"/>
            <p:cNvSpPr/>
            <p:nvPr/>
          </p:nvSpPr>
          <p:spPr>
            <a:xfrm flipH="false" flipV="false" rot="0">
              <a:off x="0" y="0"/>
              <a:ext cx="20879943" cy="1583944"/>
            </a:xfrm>
            <a:custGeom>
              <a:avLst/>
              <a:gdLst/>
              <a:ahLst/>
              <a:cxnLst/>
              <a:rect r="r" b="b" t="t" l="l"/>
              <a:pathLst>
                <a:path h="1583944" w="20879943">
                  <a:moveTo>
                    <a:pt x="0" y="0"/>
                  </a:moveTo>
                  <a:lnTo>
                    <a:pt x="20879943" y="0"/>
                  </a:lnTo>
                  <a:lnTo>
                    <a:pt x="20879943" y="1583944"/>
                  </a:lnTo>
                  <a:lnTo>
                    <a:pt x="0" y="1583944"/>
                  </a:lnTo>
                  <a:close/>
                </a:path>
              </a:pathLst>
            </a:custGeom>
            <a:solidFill>
              <a:srgbClr val="F7F8FA"/>
            </a:solidFill>
          </p:spPr>
        </p:sp>
        <p:sp>
          <p:nvSpPr>
            <p:cNvPr name="TextBox 35" id="35"/>
            <p:cNvSpPr txBox="true"/>
            <p:nvPr/>
          </p:nvSpPr>
          <p:spPr>
            <a:xfrm>
              <a:off x="0" y="-47625"/>
              <a:ext cx="20879994" cy="1631620"/>
            </a:xfrm>
            <a:prstGeom prst="rect">
              <a:avLst/>
            </a:prstGeom>
          </p:spPr>
          <p:txBody>
            <a:bodyPr anchor="t" rtlCol="false" tIns="50800" lIns="50800" bIns="50800" rIns="50800"/>
            <a:lstStyle/>
            <a:p>
              <a:pPr algn="l">
                <a:lnSpc>
                  <a:spcPts val="2340"/>
                </a:lnSpc>
              </a:pPr>
              <a:r>
                <a:rPr lang="en-US" sz="1950">
                  <a:solidFill>
                    <a:srgbClr val="1F2328"/>
                  </a:solidFill>
                  <a:latin typeface="Calibri (MS)"/>
                  <a:ea typeface="Calibri (MS)"/>
                  <a:cs typeface="Calibri (MS)"/>
                  <a:sym typeface="Calibri (MS)"/>
                </a:rPr>
                <a:t>Hyperparameter Tuning: RandomizedSearchCV  |  5-fold StratifiedKFold  |  ROC-AUC scoring  |  n_iter=15</a:t>
              </a:r>
            </a:p>
            <a:p>
              <a:pPr algn="l">
                <a:lnSpc>
                  <a:spcPts val="2340"/>
                </a:lnSpc>
              </a:pPr>
              <a:r>
                <a:rPr lang="en-US" sz="1950">
                  <a:solidFill>
                    <a:srgbClr val="1F2328"/>
                  </a:solidFill>
                  <a:latin typeface="Calibri (MS)"/>
                  <a:ea typeface="Calibri (MS)"/>
                  <a:cs typeface="Calibri (MS)"/>
                  <a:sym typeface="Calibri (MS)"/>
                </a:rPr>
                <a:t>Params tuned: n_estimators [100,200,300]  |  learning_rate [0.03,0.05,0.1]  |  max_depth [3,5]  |  subsample [0.8,1.0]</a:t>
              </a:r>
            </a:p>
          </p:txBody>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7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Model Performance Results</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809996" y="1511998"/>
            <a:ext cx="15659995" cy="486004"/>
            <a:chOff x="0" y="0"/>
            <a:chExt cx="20879994" cy="648005"/>
          </a:xfrm>
        </p:grpSpPr>
        <p:sp>
          <p:nvSpPr>
            <p:cNvPr name="Freeform 7" id="7"/>
            <p:cNvSpPr/>
            <p:nvPr/>
          </p:nvSpPr>
          <p:spPr>
            <a:xfrm flipH="false" flipV="false" rot="0">
              <a:off x="0" y="0"/>
              <a:ext cx="20879943" cy="647954"/>
            </a:xfrm>
            <a:custGeom>
              <a:avLst/>
              <a:gdLst/>
              <a:ahLst/>
              <a:cxnLst/>
              <a:rect r="r" b="b" t="t" l="l"/>
              <a:pathLst>
                <a:path h="647954" w="20879943">
                  <a:moveTo>
                    <a:pt x="0" y="0"/>
                  </a:moveTo>
                  <a:lnTo>
                    <a:pt x="20879943" y="0"/>
                  </a:lnTo>
                  <a:lnTo>
                    <a:pt x="20879943" y="647954"/>
                  </a:lnTo>
                  <a:lnTo>
                    <a:pt x="0" y="647954"/>
                  </a:lnTo>
                  <a:close/>
                </a:path>
              </a:pathLst>
            </a:custGeom>
            <a:solidFill>
              <a:srgbClr val="1E2761"/>
            </a:solidFill>
          </p:spPr>
        </p:sp>
        <p:sp>
          <p:nvSpPr>
            <p:cNvPr name="TextBox 8" id="8"/>
            <p:cNvSpPr txBox="true"/>
            <p:nvPr/>
          </p:nvSpPr>
          <p:spPr>
            <a:xfrm>
              <a:off x="0" y="-47625"/>
              <a:ext cx="20879994" cy="695630"/>
            </a:xfrm>
            <a:prstGeom prst="rect">
              <a:avLst/>
            </a:prstGeom>
          </p:spPr>
          <p:txBody>
            <a:bodyPr anchor="t" rtlCol="false" tIns="50800" lIns="50800" bIns="50800" rIns="50800"/>
            <a:lstStyle/>
            <a:p>
              <a:pPr algn="l">
                <a:lnSpc>
                  <a:spcPts val="2340"/>
                </a:lnSpc>
              </a:pPr>
              <a:r>
                <a:rPr lang="en-US" sz="1950" b="true">
                  <a:solidFill>
                    <a:srgbClr val="FFFFFF"/>
                  </a:solidFill>
                  <a:latin typeface="Calibri (MS) Bold"/>
                  <a:ea typeface="Calibri (MS) Bold"/>
                  <a:cs typeface="Calibri (MS) Bold"/>
                  <a:sym typeface="Calibri (MS) Bold"/>
                </a:rPr>
                <a:t>Model                               Threshold    Accuracy    Precision    Recall      F1-Score    ROC-AUC</a:t>
              </a:r>
            </a:p>
          </p:txBody>
        </p:sp>
      </p:grpSp>
      <p:grpSp>
        <p:nvGrpSpPr>
          <p:cNvPr name="Group 9" id="9"/>
          <p:cNvGrpSpPr/>
          <p:nvPr/>
        </p:nvGrpSpPr>
        <p:grpSpPr>
          <a:xfrm rot="0">
            <a:off x="809996" y="2024996"/>
            <a:ext cx="15659995" cy="540001"/>
            <a:chOff x="0" y="0"/>
            <a:chExt cx="20879994" cy="720001"/>
          </a:xfrm>
        </p:grpSpPr>
        <p:sp>
          <p:nvSpPr>
            <p:cNvPr name="Freeform 10" id="10"/>
            <p:cNvSpPr/>
            <p:nvPr/>
          </p:nvSpPr>
          <p:spPr>
            <a:xfrm flipH="false" flipV="false" rot="0">
              <a:off x="0" y="0"/>
              <a:ext cx="20879943" cy="719963"/>
            </a:xfrm>
            <a:custGeom>
              <a:avLst/>
              <a:gdLst/>
              <a:ahLst/>
              <a:cxnLst/>
              <a:rect r="r" b="b" t="t" l="l"/>
              <a:pathLst>
                <a:path h="719963" w="20879943">
                  <a:moveTo>
                    <a:pt x="0" y="0"/>
                  </a:moveTo>
                  <a:lnTo>
                    <a:pt x="20879943" y="0"/>
                  </a:lnTo>
                  <a:lnTo>
                    <a:pt x="20879943" y="719963"/>
                  </a:lnTo>
                  <a:lnTo>
                    <a:pt x="0" y="719963"/>
                  </a:lnTo>
                  <a:close/>
                </a:path>
              </a:pathLst>
            </a:custGeom>
            <a:solidFill>
              <a:srgbClr val="F7F8FA"/>
            </a:solidFill>
          </p:spPr>
        </p:sp>
        <p:sp>
          <p:nvSpPr>
            <p:cNvPr name="TextBox 11" id="11"/>
            <p:cNvSpPr txBox="true"/>
            <p:nvPr/>
          </p:nvSpPr>
          <p:spPr>
            <a:xfrm>
              <a:off x="0" y="-47625"/>
              <a:ext cx="20879994" cy="767626"/>
            </a:xfrm>
            <a:prstGeom prst="rect">
              <a:avLst/>
            </a:prstGeom>
          </p:spPr>
          <p:txBody>
            <a:bodyPr anchor="t" rtlCol="false" tIns="50800" lIns="50800" bIns="50800" rIns="50800"/>
            <a:lstStyle/>
            <a:p>
              <a:pPr algn="l">
                <a:lnSpc>
                  <a:spcPts val="2340"/>
                </a:lnSpc>
              </a:pPr>
              <a:r>
                <a:rPr lang="en-US" sz="1950">
                  <a:solidFill>
                    <a:srgbClr val="1F2328"/>
                  </a:solidFill>
                  <a:latin typeface="Calibri (MS)"/>
                  <a:ea typeface="Calibri (MS)"/>
                  <a:cs typeface="Calibri (MS)"/>
                  <a:sym typeface="Calibri (MS)"/>
                </a:rPr>
                <a:t>Logistic Regression (Baseline)        0.50         0.7967       0.6497       0.5107      0.5719      0.8341</a:t>
              </a:r>
            </a:p>
          </p:txBody>
        </p:sp>
      </p:grpSp>
      <p:grpSp>
        <p:nvGrpSpPr>
          <p:cNvPr name="Group 12" id="12"/>
          <p:cNvGrpSpPr/>
          <p:nvPr/>
        </p:nvGrpSpPr>
        <p:grpSpPr>
          <a:xfrm rot="0">
            <a:off x="809996" y="2592000"/>
            <a:ext cx="15659995" cy="540001"/>
            <a:chOff x="0" y="0"/>
            <a:chExt cx="20879994" cy="720001"/>
          </a:xfrm>
        </p:grpSpPr>
        <p:sp>
          <p:nvSpPr>
            <p:cNvPr name="Freeform 13" id="13"/>
            <p:cNvSpPr/>
            <p:nvPr/>
          </p:nvSpPr>
          <p:spPr>
            <a:xfrm flipH="false" flipV="false" rot="0">
              <a:off x="0" y="0"/>
              <a:ext cx="20879943" cy="719963"/>
            </a:xfrm>
            <a:custGeom>
              <a:avLst/>
              <a:gdLst/>
              <a:ahLst/>
              <a:cxnLst/>
              <a:rect r="r" b="b" t="t" l="l"/>
              <a:pathLst>
                <a:path h="719963" w="20879943">
                  <a:moveTo>
                    <a:pt x="0" y="0"/>
                  </a:moveTo>
                  <a:lnTo>
                    <a:pt x="20879943" y="0"/>
                  </a:lnTo>
                  <a:lnTo>
                    <a:pt x="20879943" y="719963"/>
                  </a:lnTo>
                  <a:lnTo>
                    <a:pt x="0" y="719963"/>
                  </a:lnTo>
                  <a:close/>
                </a:path>
              </a:pathLst>
            </a:custGeom>
            <a:solidFill>
              <a:srgbClr val="FFFFFF"/>
            </a:solidFill>
          </p:spPr>
        </p:sp>
        <p:sp>
          <p:nvSpPr>
            <p:cNvPr name="TextBox 14" id="14"/>
            <p:cNvSpPr txBox="true"/>
            <p:nvPr/>
          </p:nvSpPr>
          <p:spPr>
            <a:xfrm>
              <a:off x="0" y="-47625"/>
              <a:ext cx="20879994" cy="767626"/>
            </a:xfrm>
            <a:prstGeom prst="rect">
              <a:avLst/>
            </a:prstGeom>
          </p:spPr>
          <p:txBody>
            <a:bodyPr anchor="t" rtlCol="false" tIns="50800" lIns="50800" bIns="50800" rIns="50800"/>
            <a:lstStyle/>
            <a:p>
              <a:pPr algn="l">
                <a:lnSpc>
                  <a:spcPts val="2340"/>
                </a:lnSpc>
              </a:pPr>
              <a:r>
                <a:rPr lang="en-US" sz="1950">
                  <a:solidFill>
                    <a:srgbClr val="1F2328"/>
                  </a:solidFill>
                  <a:latin typeface="Calibri (MS)"/>
                  <a:ea typeface="Calibri (MS)"/>
                  <a:cs typeface="Calibri (MS)"/>
                  <a:sym typeface="Calibri (MS)"/>
                </a:rPr>
                <a:t>Random Forest + SMOTE                  Optimised  0.7932       0.6389       0.5642      0.5993      0.8312</a:t>
              </a:r>
            </a:p>
          </p:txBody>
        </p:sp>
      </p:grpSp>
      <p:grpSp>
        <p:nvGrpSpPr>
          <p:cNvPr name="Group 15" id="15"/>
          <p:cNvGrpSpPr/>
          <p:nvPr/>
        </p:nvGrpSpPr>
        <p:grpSpPr>
          <a:xfrm rot="0">
            <a:off x="809996" y="3159004"/>
            <a:ext cx="15659995" cy="540001"/>
            <a:chOff x="0" y="0"/>
            <a:chExt cx="20879994" cy="720001"/>
          </a:xfrm>
        </p:grpSpPr>
        <p:sp>
          <p:nvSpPr>
            <p:cNvPr name="Freeform 16" id="16"/>
            <p:cNvSpPr/>
            <p:nvPr/>
          </p:nvSpPr>
          <p:spPr>
            <a:xfrm flipH="false" flipV="false" rot="0">
              <a:off x="0" y="0"/>
              <a:ext cx="20879943" cy="719963"/>
            </a:xfrm>
            <a:custGeom>
              <a:avLst/>
              <a:gdLst/>
              <a:ahLst/>
              <a:cxnLst/>
              <a:rect r="r" b="b" t="t" l="l"/>
              <a:pathLst>
                <a:path h="719963" w="20879943">
                  <a:moveTo>
                    <a:pt x="0" y="0"/>
                  </a:moveTo>
                  <a:lnTo>
                    <a:pt x="20879943" y="0"/>
                  </a:lnTo>
                  <a:lnTo>
                    <a:pt x="20879943" y="719963"/>
                  </a:lnTo>
                  <a:lnTo>
                    <a:pt x="0" y="719963"/>
                  </a:lnTo>
                  <a:close/>
                </a:path>
              </a:pathLst>
            </a:custGeom>
            <a:solidFill>
              <a:srgbClr val="E8F4EC"/>
            </a:solidFill>
          </p:spPr>
        </p:sp>
        <p:sp>
          <p:nvSpPr>
            <p:cNvPr name="TextBox 17" id="17"/>
            <p:cNvSpPr txBox="true"/>
            <p:nvPr/>
          </p:nvSpPr>
          <p:spPr>
            <a:xfrm>
              <a:off x="0" y="-47625"/>
              <a:ext cx="20879994" cy="767626"/>
            </a:xfrm>
            <a:prstGeom prst="rect">
              <a:avLst/>
            </a:prstGeom>
          </p:spPr>
          <p:txBody>
            <a:bodyPr anchor="t" rtlCol="false" tIns="50800" lIns="50800" bIns="50800" rIns="50800"/>
            <a:lstStyle/>
            <a:p>
              <a:pPr algn="l">
                <a:lnSpc>
                  <a:spcPts val="2340"/>
                </a:lnSpc>
              </a:pPr>
              <a:r>
                <a:rPr lang="en-US" sz="1950" b="true">
                  <a:solidFill>
                    <a:srgbClr val="1F2328"/>
                  </a:solidFill>
                  <a:latin typeface="Calibri (MS) Bold"/>
                  <a:ea typeface="Calibri (MS) Bold"/>
                  <a:cs typeface="Calibri (MS) Bold"/>
                  <a:sym typeface="Calibri (MS) Bold"/>
                </a:rPr>
                <a:t>Gradient Boosting + SMOTE (Selected)   0.33         0.7690       0.5481       0.7460      0.6319      0.8355</a:t>
              </a:r>
            </a:p>
          </p:txBody>
        </p:sp>
      </p:grpSp>
      <p:grpSp>
        <p:nvGrpSpPr>
          <p:cNvPr name="Group 18" id="18"/>
          <p:cNvGrpSpPr/>
          <p:nvPr/>
        </p:nvGrpSpPr>
        <p:grpSpPr>
          <a:xfrm rot="0">
            <a:off x="809996" y="3996004"/>
            <a:ext cx="4050001" cy="1889998"/>
            <a:chOff x="0" y="0"/>
            <a:chExt cx="5400002" cy="2519998"/>
          </a:xfrm>
        </p:grpSpPr>
        <p:sp>
          <p:nvSpPr>
            <p:cNvPr name="Freeform 19" id="19"/>
            <p:cNvSpPr/>
            <p:nvPr/>
          </p:nvSpPr>
          <p:spPr>
            <a:xfrm flipH="false" flipV="false" rot="0">
              <a:off x="0" y="0"/>
              <a:ext cx="5400040" cy="2520061"/>
            </a:xfrm>
            <a:custGeom>
              <a:avLst/>
              <a:gdLst/>
              <a:ahLst/>
              <a:cxnLst/>
              <a:rect r="r" b="b" t="t" l="l"/>
              <a:pathLst>
                <a:path h="2520061" w="5400040">
                  <a:moveTo>
                    <a:pt x="0" y="0"/>
                  </a:moveTo>
                  <a:lnTo>
                    <a:pt x="5400040" y="0"/>
                  </a:lnTo>
                  <a:lnTo>
                    <a:pt x="5400040" y="2520061"/>
                  </a:lnTo>
                  <a:lnTo>
                    <a:pt x="0" y="2520061"/>
                  </a:lnTo>
                  <a:close/>
                </a:path>
              </a:pathLst>
            </a:custGeom>
            <a:solidFill>
              <a:srgbClr val="EBF0FF"/>
            </a:solidFill>
          </p:spPr>
        </p:sp>
        <p:sp>
          <p:nvSpPr>
            <p:cNvPr name="TextBox 20" id="20"/>
            <p:cNvSpPr txBox="true"/>
            <p:nvPr/>
          </p:nvSpPr>
          <p:spPr>
            <a:xfrm>
              <a:off x="0" y="-57150"/>
              <a:ext cx="5400002" cy="2577148"/>
            </a:xfrm>
            <a:prstGeom prst="rect">
              <a:avLst/>
            </a:prstGeom>
          </p:spPr>
          <p:txBody>
            <a:bodyPr anchor="t" rtlCol="false" tIns="50800" lIns="50800" bIns="50800" rIns="50800"/>
            <a:lstStyle/>
            <a:p>
              <a:pPr algn="l">
                <a:lnSpc>
                  <a:spcPts val="2700"/>
                </a:lnSpc>
              </a:pPr>
              <a:r>
                <a:rPr lang="en-US" sz="2250">
                  <a:solidFill>
                    <a:srgbClr val="1F2328"/>
                  </a:solidFill>
                  <a:latin typeface="Calibri (MS)"/>
                  <a:ea typeface="Calibri (MS)"/>
                  <a:cs typeface="Calibri (MS)"/>
                  <a:sym typeface="Calibri (MS)"/>
                </a:rPr>
                <a:t>F1 Improved</a:t>
              </a:r>
            </a:p>
            <a:p>
              <a:pPr algn="l">
                <a:lnSpc>
                  <a:spcPts val="2700"/>
                </a:lnSpc>
              </a:pPr>
              <a:r>
                <a:rPr lang="en-US" sz="2250">
                  <a:solidFill>
                    <a:srgbClr val="1F2328"/>
                  </a:solidFill>
                  <a:latin typeface="Calibri (MS)"/>
                  <a:ea typeface="Calibri (MS)"/>
                  <a:cs typeface="Calibri (MS)"/>
                  <a:sym typeface="Calibri (MS)"/>
                </a:rPr>
                <a:t>+10.5%</a:t>
              </a:r>
            </a:p>
            <a:p>
              <a:pPr algn="l">
                <a:lnSpc>
                  <a:spcPts val="2700"/>
                </a:lnSpc>
              </a:pPr>
              <a:r>
                <a:rPr lang="en-US" sz="2250">
                  <a:solidFill>
                    <a:srgbClr val="1F2328"/>
                  </a:solidFill>
                  <a:latin typeface="Calibri (MS)"/>
                  <a:ea typeface="Calibri (MS)"/>
                  <a:cs typeface="Calibri (MS)"/>
                  <a:sym typeface="Calibri (MS)"/>
                </a:rPr>
                <a:t>0.5719 -&gt; 0.6319</a:t>
              </a:r>
            </a:p>
          </p:txBody>
        </p:sp>
      </p:grpSp>
      <p:grpSp>
        <p:nvGrpSpPr>
          <p:cNvPr name="Group 21" id="21"/>
          <p:cNvGrpSpPr/>
          <p:nvPr/>
        </p:nvGrpSpPr>
        <p:grpSpPr>
          <a:xfrm rot="0">
            <a:off x="5292004" y="3996004"/>
            <a:ext cx="5670004" cy="1889998"/>
            <a:chOff x="0" y="0"/>
            <a:chExt cx="7560005" cy="2519998"/>
          </a:xfrm>
        </p:grpSpPr>
        <p:sp>
          <p:nvSpPr>
            <p:cNvPr name="Freeform 22" id="22"/>
            <p:cNvSpPr/>
            <p:nvPr/>
          </p:nvSpPr>
          <p:spPr>
            <a:xfrm flipH="false" flipV="false" rot="0">
              <a:off x="0" y="0"/>
              <a:ext cx="7560056" cy="2520061"/>
            </a:xfrm>
            <a:custGeom>
              <a:avLst/>
              <a:gdLst/>
              <a:ahLst/>
              <a:cxnLst/>
              <a:rect r="r" b="b" t="t" l="l"/>
              <a:pathLst>
                <a:path h="2520061" w="7560056">
                  <a:moveTo>
                    <a:pt x="0" y="0"/>
                  </a:moveTo>
                  <a:lnTo>
                    <a:pt x="7560056" y="0"/>
                  </a:lnTo>
                  <a:lnTo>
                    <a:pt x="7560056" y="2520061"/>
                  </a:lnTo>
                  <a:lnTo>
                    <a:pt x="0" y="2520061"/>
                  </a:lnTo>
                  <a:close/>
                </a:path>
              </a:pathLst>
            </a:custGeom>
            <a:solidFill>
              <a:srgbClr val="EBF0FF"/>
            </a:solidFill>
          </p:spPr>
        </p:sp>
        <p:sp>
          <p:nvSpPr>
            <p:cNvPr name="TextBox 23" id="23"/>
            <p:cNvSpPr txBox="true"/>
            <p:nvPr/>
          </p:nvSpPr>
          <p:spPr>
            <a:xfrm>
              <a:off x="0" y="-57150"/>
              <a:ext cx="7560005" cy="2577148"/>
            </a:xfrm>
            <a:prstGeom prst="rect">
              <a:avLst/>
            </a:prstGeom>
          </p:spPr>
          <p:txBody>
            <a:bodyPr anchor="t" rtlCol="false" tIns="50800" lIns="50800" bIns="50800" rIns="50800"/>
            <a:lstStyle/>
            <a:p>
              <a:pPr algn="l">
                <a:lnSpc>
                  <a:spcPts val="2700"/>
                </a:lnSpc>
              </a:pPr>
              <a:r>
                <a:rPr lang="en-US" sz="2250">
                  <a:solidFill>
                    <a:srgbClr val="1F2328"/>
                  </a:solidFill>
                  <a:latin typeface="Calibri (MS)"/>
                  <a:ea typeface="Calibri (MS)"/>
                  <a:cs typeface="Calibri (MS)"/>
                  <a:sym typeface="Calibri (MS)"/>
                </a:rPr>
                <a:t>Recall = 0.746</a:t>
              </a:r>
            </a:p>
            <a:p>
              <a:pPr algn="l">
                <a:lnSpc>
                  <a:spcPts val="2700"/>
                </a:lnSpc>
              </a:pPr>
              <a:r>
                <a:rPr lang="en-US" sz="2250">
                  <a:solidFill>
                    <a:srgbClr val="1F2328"/>
                  </a:solidFill>
                  <a:latin typeface="Calibri (MS)"/>
                  <a:ea typeface="Calibri (MS)"/>
                  <a:cs typeface="Calibri (MS)"/>
                  <a:sym typeface="Calibri (MS)"/>
                </a:rPr>
                <a:t>Captures 74.6% of all</a:t>
              </a:r>
            </a:p>
            <a:p>
              <a:pPr algn="l">
                <a:lnSpc>
                  <a:spcPts val="2700"/>
                </a:lnSpc>
              </a:pPr>
              <a:r>
                <a:rPr lang="en-US" sz="2250">
                  <a:solidFill>
                    <a:srgbClr val="1F2328"/>
                  </a:solidFill>
                  <a:latin typeface="Calibri (MS)"/>
                  <a:ea typeface="Calibri (MS)"/>
                  <a:cs typeface="Calibri (MS)"/>
                  <a:sym typeface="Calibri (MS)"/>
                </a:rPr>
                <a:t>actual churners — business critical</a:t>
              </a:r>
            </a:p>
          </p:txBody>
        </p:sp>
      </p:grpSp>
      <p:grpSp>
        <p:nvGrpSpPr>
          <p:cNvPr name="Group 24" id="24"/>
          <p:cNvGrpSpPr/>
          <p:nvPr/>
        </p:nvGrpSpPr>
        <p:grpSpPr>
          <a:xfrm rot="0">
            <a:off x="11448002" y="3996004"/>
            <a:ext cx="5130003" cy="1889998"/>
            <a:chOff x="0" y="0"/>
            <a:chExt cx="6840004" cy="2519998"/>
          </a:xfrm>
        </p:grpSpPr>
        <p:sp>
          <p:nvSpPr>
            <p:cNvPr name="Freeform 25" id="25"/>
            <p:cNvSpPr/>
            <p:nvPr/>
          </p:nvSpPr>
          <p:spPr>
            <a:xfrm flipH="false" flipV="false" rot="0">
              <a:off x="0" y="0"/>
              <a:ext cx="6839966" cy="2520061"/>
            </a:xfrm>
            <a:custGeom>
              <a:avLst/>
              <a:gdLst/>
              <a:ahLst/>
              <a:cxnLst/>
              <a:rect r="r" b="b" t="t" l="l"/>
              <a:pathLst>
                <a:path h="2520061" w="6839966">
                  <a:moveTo>
                    <a:pt x="0" y="0"/>
                  </a:moveTo>
                  <a:lnTo>
                    <a:pt x="6839966" y="0"/>
                  </a:lnTo>
                  <a:lnTo>
                    <a:pt x="6839966" y="2520061"/>
                  </a:lnTo>
                  <a:lnTo>
                    <a:pt x="0" y="2520061"/>
                  </a:lnTo>
                  <a:close/>
                </a:path>
              </a:pathLst>
            </a:custGeom>
            <a:solidFill>
              <a:srgbClr val="EBF0FF"/>
            </a:solidFill>
          </p:spPr>
        </p:sp>
        <p:sp>
          <p:nvSpPr>
            <p:cNvPr name="TextBox 26" id="26"/>
            <p:cNvSpPr txBox="true"/>
            <p:nvPr/>
          </p:nvSpPr>
          <p:spPr>
            <a:xfrm>
              <a:off x="0" y="-57150"/>
              <a:ext cx="6840004" cy="2577148"/>
            </a:xfrm>
            <a:prstGeom prst="rect">
              <a:avLst/>
            </a:prstGeom>
          </p:spPr>
          <p:txBody>
            <a:bodyPr anchor="t" rtlCol="false" tIns="50800" lIns="50800" bIns="50800" rIns="50800"/>
            <a:lstStyle/>
            <a:p>
              <a:pPr algn="l">
                <a:lnSpc>
                  <a:spcPts val="2700"/>
                </a:lnSpc>
              </a:pPr>
              <a:r>
                <a:rPr lang="en-US" sz="2250">
                  <a:solidFill>
                    <a:srgbClr val="1F2328"/>
                  </a:solidFill>
                  <a:latin typeface="Calibri (MS)"/>
                  <a:ea typeface="Calibri (MS)"/>
                  <a:cs typeface="Calibri (MS)"/>
                  <a:sym typeface="Calibri (MS)"/>
                </a:rPr>
                <a:t>ROC-AUC = 0.8355</a:t>
              </a:r>
            </a:p>
            <a:p>
              <a:pPr algn="l">
                <a:lnSpc>
                  <a:spcPts val="2700"/>
                </a:lnSpc>
              </a:pPr>
              <a:r>
                <a:rPr lang="en-US" sz="2250">
                  <a:solidFill>
                    <a:srgbClr val="1F2328"/>
                  </a:solidFill>
                  <a:latin typeface="Calibri (MS)"/>
                  <a:ea typeface="Calibri (MS)"/>
                  <a:cs typeface="Calibri (MS)"/>
                  <a:sym typeface="Calibri (MS)"/>
                </a:rPr>
                <a:t>Strong discrimination</a:t>
              </a:r>
            </a:p>
            <a:p>
              <a:pPr algn="l">
                <a:lnSpc>
                  <a:spcPts val="2700"/>
                </a:lnSpc>
              </a:pPr>
              <a:r>
                <a:rPr lang="en-US" sz="2250">
                  <a:solidFill>
                    <a:srgbClr val="1F2328"/>
                  </a:solidFill>
                  <a:latin typeface="Calibri (MS)"/>
                  <a:ea typeface="Calibri (MS)"/>
                  <a:cs typeface="Calibri (MS)"/>
                  <a:sym typeface="Calibri (MS)"/>
                </a:rPr>
                <a:t>between churn / no-churn</a:t>
              </a:r>
            </a:p>
          </p:txBody>
        </p:sp>
      </p:grpSp>
      <p:grpSp>
        <p:nvGrpSpPr>
          <p:cNvPr name="Group 27" id="27"/>
          <p:cNvGrpSpPr/>
          <p:nvPr/>
        </p:nvGrpSpPr>
        <p:grpSpPr>
          <a:xfrm rot="0">
            <a:off x="809996" y="6102001"/>
            <a:ext cx="15659995" cy="540001"/>
            <a:chOff x="0" y="0"/>
            <a:chExt cx="20879994" cy="720001"/>
          </a:xfrm>
        </p:grpSpPr>
        <p:sp>
          <p:nvSpPr>
            <p:cNvPr name="Freeform 28" id="28"/>
            <p:cNvSpPr/>
            <p:nvPr/>
          </p:nvSpPr>
          <p:spPr>
            <a:xfrm flipH="false" flipV="false" rot="0">
              <a:off x="0" y="0"/>
              <a:ext cx="20879943" cy="719963"/>
            </a:xfrm>
            <a:custGeom>
              <a:avLst/>
              <a:gdLst/>
              <a:ahLst/>
              <a:cxnLst/>
              <a:rect r="r" b="b" t="t" l="l"/>
              <a:pathLst>
                <a:path h="719963" w="20879943">
                  <a:moveTo>
                    <a:pt x="0" y="0"/>
                  </a:moveTo>
                  <a:lnTo>
                    <a:pt x="20879943" y="0"/>
                  </a:lnTo>
                  <a:lnTo>
                    <a:pt x="20879943" y="719963"/>
                  </a:lnTo>
                  <a:lnTo>
                    <a:pt x="0" y="719963"/>
                  </a:lnTo>
                  <a:close/>
                </a:path>
              </a:pathLst>
            </a:custGeom>
            <a:solidFill>
              <a:srgbClr val="FFF8E1"/>
            </a:solidFill>
          </p:spPr>
        </p:sp>
        <p:sp>
          <p:nvSpPr>
            <p:cNvPr name="TextBox 29" id="29"/>
            <p:cNvSpPr txBox="true"/>
            <p:nvPr/>
          </p:nvSpPr>
          <p:spPr>
            <a:xfrm>
              <a:off x="0" y="-47625"/>
              <a:ext cx="20879994" cy="767626"/>
            </a:xfrm>
            <a:prstGeom prst="rect">
              <a:avLst/>
            </a:prstGeom>
          </p:spPr>
          <p:txBody>
            <a:bodyPr anchor="t" rtlCol="false" tIns="50800" lIns="50800" bIns="50800" rIns="50800"/>
            <a:lstStyle/>
            <a:p>
              <a:pPr algn="l">
                <a:lnSpc>
                  <a:spcPts val="2520"/>
                </a:lnSpc>
              </a:pPr>
              <a:r>
                <a:rPr lang="en-US" sz="2100" b="true">
                  <a:solidFill>
                    <a:srgbClr val="1E2761"/>
                  </a:solidFill>
                  <a:latin typeface="Calibri (MS) Bold"/>
                  <a:ea typeface="Calibri (MS) Bold"/>
                  <a:cs typeface="Calibri (MS) Bold"/>
                  <a:sym typeface="Calibri (MS) Bold"/>
                </a:rPr>
                <a:t>Decision Threshold = 0.33  (optimised to maximise F1 on test set — NOT the default 0.50)</a:t>
              </a:r>
            </a:p>
          </p:txBody>
        </p:sp>
      </p:grpSp>
      <p:sp>
        <p:nvSpPr>
          <p:cNvPr name="TextBox 30" id="30"/>
          <p:cNvSpPr txBox="true"/>
          <p:nvPr/>
        </p:nvSpPr>
        <p:spPr>
          <a:xfrm rot="0">
            <a:off x="901436" y="6802098"/>
            <a:ext cx="15477115" cy="766181"/>
          </a:xfrm>
          <a:prstGeom prst="rect">
            <a:avLst/>
          </a:prstGeom>
        </p:spPr>
        <p:txBody>
          <a:bodyPr anchor="t" rtlCol="false" tIns="0" lIns="0" bIns="0" rIns="0">
            <a:spAutoFit/>
          </a:bodyPr>
          <a:lstStyle/>
          <a:p>
            <a:pPr algn="l">
              <a:lnSpc>
                <a:spcPts val="2340"/>
              </a:lnSpc>
            </a:pPr>
            <a:r>
              <a:rPr lang="en-US" sz="1950">
                <a:solidFill>
                  <a:srgbClr val="57606A"/>
                </a:solidFill>
                <a:latin typeface="Calibri (MS)"/>
                <a:ea typeface="Calibri (MS)"/>
                <a:cs typeface="Calibri (MS)"/>
                <a:sym typeface="Calibri (MS)"/>
              </a:rPr>
              <a:t>Best Hyperparameters (GBM):  learning_rate=0.05  |  max_depth=3  |  n_estimators=50  |  subsample=0.8  |  min_samples_split=5  |  min_samples_leaf=3</a:t>
            </a:r>
          </a:p>
        </p:txBody>
      </p:sp>
      <p:sp>
        <p:nvSpPr>
          <p:cNvPr name="TextBox 31" id="31"/>
          <p:cNvSpPr txBox="true"/>
          <p:nvPr/>
        </p:nvSpPr>
        <p:spPr>
          <a:xfrm rot="0">
            <a:off x="901436" y="7729623"/>
            <a:ext cx="15477115" cy="702659"/>
          </a:xfrm>
          <a:prstGeom prst="rect">
            <a:avLst/>
          </a:prstGeom>
        </p:spPr>
        <p:txBody>
          <a:bodyPr anchor="t" rtlCol="false" tIns="0" lIns="0" bIns="0" rIns="0">
            <a:spAutoFit/>
          </a:bodyPr>
          <a:lstStyle/>
          <a:p>
            <a:pPr algn="l">
              <a:lnSpc>
                <a:spcPts val="2160"/>
              </a:lnSpc>
            </a:pPr>
            <a:r>
              <a:rPr lang="en-US" sz="1800">
                <a:solidFill>
                  <a:srgbClr val="8B9AAD"/>
                </a:solidFill>
                <a:latin typeface="Calibri (MS)"/>
                <a:ea typeface="Calibri (MS)"/>
                <a:cs typeface="Calibri (MS)"/>
                <a:sym typeface="Calibri (MS)"/>
              </a:rPr>
              <a:t>Reports generated:  confusion_matrix.png  |  roc_curve.png  |  precision_recall_curve.png  |  shap_summary_bar.png  |  shap_summary_beeswarm.png  |  classification_report.txt  |  model_report.md</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8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SHAP Explainability</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sp>
        <p:nvSpPr>
          <p:cNvPr name="TextBox 6" id="6"/>
          <p:cNvSpPr txBox="true"/>
          <p:nvPr/>
        </p:nvSpPr>
        <p:spPr>
          <a:xfrm rot="0">
            <a:off x="901436" y="1564091"/>
            <a:ext cx="7377122" cy="388182"/>
          </a:xfrm>
          <a:prstGeom prst="rect">
            <a:avLst/>
          </a:prstGeom>
        </p:spPr>
        <p:txBody>
          <a:bodyPr anchor="t" rtlCol="false" tIns="0" lIns="0" bIns="0" rIns="0">
            <a:spAutoFit/>
          </a:bodyPr>
          <a:lstStyle/>
          <a:p>
            <a:pPr algn="l">
              <a:lnSpc>
                <a:spcPts val="2520"/>
              </a:lnSpc>
            </a:pPr>
            <a:r>
              <a:rPr lang="en-US" sz="2100" b="true">
                <a:solidFill>
                  <a:srgbClr val="1E2761"/>
                </a:solidFill>
                <a:latin typeface="Calibri (MS) Bold"/>
                <a:ea typeface="Calibri (MS) Bold"/>
                <a:cs typeface="Calibri (MS) Bold"/>
                <a:sym typeface="Calibri (MS) Bold"/>
              </a:rPr>
              <a:t>GLOBAL EXPLAINABILITY</a:t>
            </a:r>
          </a:p>
        </p:txBody>
      </p:sp>
      <p:grpSp>
        <p:nvGrpSpPr>
          <p:cNvPr name="Group 7" id="7"/>
          <p:cNvGrpSpPr/>
          <p:nvPr/>
        </p:nvGrpSpPr>
        <p:grpSpPr>
          <a:xfrm rot="0">
            <a:off x="809996" y="2051999"/>
            <a:ext cx="7560002" cy="1889998"/>
            <a:chOff x="0" y="0"/>
            <a:chExt cx="10080003" cy="2519998"/>
          </a:xfrm>
        </p:grpSpPr>
        <p:sp>
          <p:nvSpPr>
            <p:cNvPr name="Freeform 8" id="8"/>
            <p:cNvSpPr/>
            <p:nvPr/>
          </p:nvSpPr>
          <p:spPr>
            <a:xfrm flipH="false" flipV="false" rot="0">
              <a:off x="0" y="0"/>
              <a:ext cx="10079990" cy="2520061"/>
            </a:xfrm>
            <a:custGeom>
              <a:avLst/>
              <a:gdLst/>
              <a:ahLst/>
              <a:cxnLst/>
              <a:rect r="r" b="b" t="t" l="l"/>
              <a:pathLst>
                <a:path h="2520061" w="10079990">
                  <a:moveTo>
                    <a:pt x="0" y="0"/>
                  </a:moveTo>
                  <a:lnTo>
                    <a:pt x="10079990" y="0"/>
                  </a:lnTo>
                  <a:lnTo>
                    <a:pt x="10079990" y="2520061"/>
                  </a:lnTo>
                  <a:lnTo>
                    <a:pt x="0" y="2520061"/>
                  </a:lnTo>
                  <a:close/>
                </a:path>
              </a:pathLst>
            </a:custGeom>
            <a:solidFill>
              <a:srgbClr val="F7F8FA"/>
            </a:solidFill>
          </p:spPr>
        </p:sp>
        <p:sp>
          <p:nvSpPr>
            <p:cNvPr name="TextBox 9" id="9"/>
            <p:cNvSpPr txBox="true"/>
            <p:nvPr/>
          </p:nvSpPr>
          <p:spPr>
            <a:xfrm>
              <a:off x="0" y="-47625"/>
              <a:ext cx="10080003"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Mean |SHAP| bar chart + beeswarm plot shows which features drive churn ACROSS ALL customers. Saved as shap_summary_bar.png and shap_summary_beeswarm.png. Powered by SHAP TreeExplainer — fast and exact for Gradient Boosting.</a:t>
              </a:r>
            </a:p>
          </p:txBody>
        </p:sp>
      </p:grpSp>
      <p:sp>
        <p:nvSpPr>
          <p:cNvPr name="TextBox 10" id="10"/>
          <p:cNvSpPr txBox="true"/>
          <p:nvPr/>
        </p:nvSpPr>
        <p:spPr>
          <a:xfrm rot="0">
            <a:off x="9271444" y="1564091"/>
            <a:ext cx="7377122" cy="388182"/>
          </a:xfrm>
          <a:prstGeom prst="rect">
            <a:avLst/>
          </a:prstGeom>
        </p:spPr>
        <p:txBody>
          <a:bodyPr anchor="t" rtlCol="false" tIns="0" lIns="0" bIns="0" rIns="0">
            <a:spAutoFit/>
          </a:bodyPr>
          <a:lstStyle/>
          <a:p>
            <a:pPr algn="l">
              <a:lnSpc>
                <a:spcPts val="2520"/>
              </a:lnSpc>
            </a:pPr>
            <a:r>
              <a:rPr lang="en-US" sz="2100" b="true">
                <a:solidFill>
                  <a:srgbClr val="1E2761"/>
                </a:solidFill>
                <a:latin typeface="Calibri (MS) Bold"/>
                <a:ea typeface="Calibri (MS) Bold"/>
                <a:cs typeface="Calibri (MS) Bold"/>
                <a:sym typeface="Calibri (MS) Bold"/>
              </a:rPr>
              <a:t>INDIVIDUAL EXPLAINABILITY</a:t>
            </a:r>
          </a:p>
        </p:txBody>
      </p:sp>
      <p:grpSp>
        <p:nvGrpSpPr>
          <p:cNvPr name="Group 11" id="11"/>
          <p:cNvGrpSpPr/>
          <p:nvPr/>
        </p:nvGrpSpPr>
        <p:grpSpPr>
          <a:xfrm rot="0">
            <a:off x="9180004" y="2051999"/>
            <a:ext cx="7560002" cy="1889998"/>
            <a:chOff x="0" y="0"/>
            <a:chExt cx="10080003" cy="2519998"/>
          </a:xfrm>
        </p:grpSpPr>
        <p:sp>
          <p:nvSpPr>
            <p:cNvPr name="Freeform 12" id="12"/>
            <p:cNvSpPr/>
            <p:nvPr/>
          </p:nvSpPr>
          <p:spPr>
            <a:xfrm flipH="false" flipV="false" rot="0">
              <a:off x="0" y="0"/>
              <a:ext cx="10079990" cy="2520061"/>
            </a:xfrm>
            <a:custGeom>
              <a:avLst/>
              <a:gdLst/>
              <a:ahLst/>
              <a:cxnLst/>
              <a:rect r="r" b="b" t="t" l="l"/>
              <a:pathLst>
                <a:path h="2520061" w="10079990">
                  <a:moveTo>
                    <a:pt x="0" y="0"/>
                  </a:moveTo>
                  <a:lnTo>
                    <a:pt x="10079990" y="0"/>
                  </a:lnTo>
                  <a:lnTo>
                    <a:pt x="10079990" y="2520061"/>
                  </a:lnTo>
                  <a:lnTo>
                    <a:pt x="0" y="2520061"/>
                  </a:lnTo>
                  <a:close/>
                </a:path>
              </a:pathLst>
            </a:custGeom>
            <a:solidFill>
              <a:srgbClr val="F7F8FA"/>
            </a:solidFill>
          </p:spPr>
        </p:sp>
        <p:sp>
          <p:nvSpPr>
            <p:cNvPr name="TextBox 13" id="13"/>
            <p:cNvSpPr txBox="true"/>
            <p:nvPr/>
          </p:nvSpPr>
          <p:spPr>
            <a:xfrm>
              <a:off x="0" y="-47625"/>
              <a:ext cx="10080003"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Waterfall chart per customer shows exactly which features push THIS prediction toward or away from churn. Available via the /explain REST endpoint. Displayed in the Explainability tab of the Streamlit dashboard.</a:t>
              </a:r>
            </a:p>
          </p:txBody>
        </p:sp>
      </p:grpSp>
      <p:grpSp>
        <p:nvGrpSpPr>
          <p:cNvPr name="Group 14" id="14"/>
          <p:cNvGrpSpPr/>
          <p:nvPr/>
        </p:nvGrpSpPr>
        <p:grpSpPr>
          <a:xfrm rot="0">
            <a:off x="809996" y="4319997"/>
            <a:ext cx="15659995" cy="486004"/>
            <a:chOff x="0" y="0"/>
            <a:chExt cx="20879994" cy="648005"/>
          </a:xfrm>
        </p:grpSpPr>
        <p:sp>
          <p:nvSpPr>
            <p:cNvPr name="Freeform 15" id="15"/>
            <p:cNvSpPr/>
            <p:nvPr/>
          </p:nvSpPr>
          <p:spPr>
            <a:xfrm flipH="false" flipV="false" rot="0">
              <a:off x="0" y="0"/>
              <a:ext cx="20879943" cy="647954"/>
            </a:xfrm>
            <a:custGeom>
              <a:avLst/>
              <a:gdLst/>
              <a:ahLst/>
              <a:cxnLst/>
              <a:rect r="r" b="b" t="t" l="l"/>
              <a:pathLst>
                <a:path h="647954" w="20879943">
                  <a:moveTo>
                    <a:pt x="0" y="0"/>
                  </a:moveTo>
                  <a:lnTo>
                    <a:pt x="20879943" y="0"/>
                  </a:lnTo>
                  <a:lnTo>
                    <a:pt x="20879943" y="647954"/>
                  </a:lnTo>
                  <a:lnTo>
                    <a:pt x="0" y="647954"/>
                  </a:lnTo>
                  <a:close/>
                </a:path>
              </a:pathLst>
            </a:custGeom>
            <a:solidFill>
              <a:srgbClr val="EBF0FF"/>
            </a:solidFill>
          </p:spPr>
        </p:sp>
        <p:sp>
          <p:nvSpPr>
            <p:cNvPr name="TextBox 16" id="16"/>
            <p:cNvSpPr txBox="true"/>
            <p:nvPr/>
          </p:nvSpPr>
          <p:spPr>
            <a:xfrm>
              <a:off x="0" y="-57150"/>
              <a:ext cx="20879994" cy="705155"/>
            </a:xfrm>
            <a:prstGeom prst="rect">
              <a:avLst/>
            </a:prstGeom>
          </p:spPr>
          <p:txBody>
            <a:bodyPr anchor="t" rtlCol="false" tIns="50800" lIns="50800" bIns="50800" rIns="50800"/>
            <a:lstStyle/>
            <a:p>
              <a:pPr algn="l">
                <a:lnSpc>
                  <a:spcPts val="2700"/>
                </a:lnSpc>
              </a:pPr>
              <a:r>
                <a:rPr lang="en-US" sz="2250" b="true">
                  <a:solidFill>
                    <a:srgbClr val="1E2761"/>
                  </a:solidFill>
                  <a:latin typeface="Calibri (MS) Bold"/>
                  <a:ea typeface="Calibri (MS) Bold"/>
                  <a:cs typeface="Calibri (MS) Bold"/>
                  <a:sym typeface="Calibri (MS) Bold"/>
                </a:rPr>
                <a:t>Top 5 Global Churn Drivers  (by mean |SHAP value|)</a:t>
              </a:r>
            </a:p>
          </p:txBody>
        </p:sp>
      </p:grpSp>
      <p:grpSp>
        <p:nvGrpSpPr>
          <p:cNvPr name="Group 17" id="17"/>
          <p:cNvGrpSpPr/>
          <p:nvPr/>
        </p:nvGrpSpPr>
        <p:grpSpPr>
          <a:xfrm rot="0">
            <a:off x="809996" y="4914005"/>
            <a:ext cx="15659995" cy="459000"/>
            <a:chOff x="0" y="0"/>
            <a:chExt cx="20879994" cy="612000"/>
          </a:xfrm>
        </p:grpSpPr>
        <p:sp>
          <p:nvSpPr>
            <p:cNvPr name="Freeform 18" id="18"/>
            <p:cNvSpPr/>
            <p:nvPr/>
          </p:nvSpPr>
          <p:spPr>
            <a:xfrm flipH="false" flipV="false" rot="0">
              <a:off x="0" y="0"/>
              <a:ext cx="20879943" cy="612013"/>
            </a:xfrm>
            <a:custGeom>
              <a:avLst/>
              <a:gdLst/>
              <a:ahLst/>
              <a:cxnLst/>
              <a:rect r="r" b="b" t="t" l="l"/>
              <a:pathLst>
                <a:path h="612013" w="20879943">
                  <a:moveTo>
                    <a:pt x="0" y="0"/>
                  </a:moveTo>
                  <a:lnTo>
                    <a:pt x="20879943" y="0"/>
                  </a:lnTo>
                  <a:lnTo>
                    <a:pt x="20879943" y="612013"/>
                  </a:lnTo>
                  <a:lnTo>
                    <a:pt x="0" y="612013"/>
                  </a:lnTo>
                  <a:close/>
                </a:path>
              </a:pathLst>
            </a:custGeom>
            <a:solidFill>
              <a:srgbClr val="FFF8E1"/>
            </a:solidFill>
          </p:spPr>
        </p:sp>
        <p:sp>
          <p:nvSpPr>
            <p:cNvPr name="TextBox 19" id="19"/>
            <p:cNvSpPr txBox="true"/>
            <p:nvPr/>
          </p:nvSpPr>
          <p:spPr>
            <a:xfrm>
              <a:off x="0" y="-47625"/>
              <a:ext cx="20879994" cy="659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1   contract_Month-to-month          SHAP = 0.776   (strongest single driver)</a:t>
              </a:r>
            </a:p>
          </p:txBody>
        </p:sp>
      </p:grpSp>
      <p:grpSp>
        <p:nvGrpSpPr>
          <p:cNvPr name="Group 20" id="20"/>
          <p:cNvGrpSpPr/>
          <p:nvPr/>
        </p:nvGrpSpPr>
        <p:grpSpPr>
          <a:xfrm rot="0">
            <a:off x="809996" y="5399999"/>
            <a:ext cx="15659995" cy="459000"/>
            <a:chOff x="0" y="0"/>
            <a:chExt cx="20879994" cy="612000"/>
          </a:xfrm>
        </p:grpSpPr>
        <p:sp>
          <p:nvSpPr>
            <p:cNvPr name="Freeform 21" id="21"/>
            <p:cNvSpPr/>
            <p:nvPr/>
          </p:nvSpPr>
          <p:spPr>
            <a:xfrm flipH="false" flipV="false" rot="0">
              <a:off x="0" y="0"/>
              <a:ext cx="20879943" cy="612013"/>
            </a:xfrm>
            <a:custGeom>
              <a:avLst/>
              <a:gdLst/>
              <a:ahLst/>
              <a:cxnLst/>
              <a:rect r="r" b="b" t="t" l="l"/>
              <a:pathLst>
                <a:path h="612013" w="20879943">
                  <a:moveTo>
                    <a:pt x="0" y="0"/>
                  </a:moveTo>
                  <a:lnTo>
                    <a:pt x="20879943" y="0"/>
                  </a:lnTo>
                  <a:lnTo>
                    <a:pt x="20879943" y="612013"/>
                  </a:lnTo>
                  <a:lnTo>
                    <a:pt x="0" y="612013"/>
                  </a:lnTo>
                  <a:close/>
                </a:path>
              </a:pathLst>
            </a:custGeom>
            <a:solidFill>
              <a:srgbClr val="FFFFFF"/>
            </a:solidFill>
          </p:spPr>
        </p:sp>
        <p:sp>
          <p:nvSpPr>
            <p:cNvPr name="TextBox 22" id="22"/>
            <p:cNvSpPr txBox="true"/>
            <p:nvPr/>
          </p:nvSpPr>
          <p:spPr>
            <a:xfrm>
              <a:off x="0" y="-47625"/>
              <a:ext cx="20879994" cy="659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2   tenure                                       SHAP = 0.351   (short tenure = higher churn risk)</a:t>
              </a:r>
            </a:p>
          </p:txBody>
        </p:sp>
      </p:grpSp>
      <p:grpSp>
        <p:nvGrpSpPr>
          <p:cNvPr name="Group 23" id="23"/>
          <p:cNvGrpSpPr/>
          <p:nvPr/>
        </p:nvGrpSpPr>
        <p:grpSpPr>
          <a:xfrm rot="0">
            <a:off x="809996" y="5886002"/>
            <a:ext cx="15659995" cy="459000"/>
            <a:chOff x="0" y="0"/>
            <a:chExt cx="20879994" cy="612000"/>
          </a:xfrm>
        </p:grpSpPr>
        <p:sp>
          <p:nvSpPr>
            <p:cNvPr name="Freeform 24" id="24"/>
            <p:cNvSpPr/>
            <p:nvPr/>
          </p:nvSpPr>
          <p:spPr>
            <a:xfrm flipH="false" flipV="false" rot="0">
              <a:off x="0" y="0"/>
              <a:ext cx="20879943" cy="612013"/>
            </a:xfrm>
            <a:custGeom>
              <a:avLst/>
              <a:gdLst/>
              <a:ahLst/>
              <a:cxnLst/>
              <a:rect r="r" b="b" t="t" l="l"/>
              <a:pathLst>
                <a:path h="612013" w="20879943">
                  <a:moveTo>
                    <a:pt x="0" y="0"/>
                  </a:moveTo>
                  <a:lnTo>
                    <a:pt x="20879943" y="0"/>
                  </a:lnTo>
                  <a:lnTo>
                    <a:pt x="20879943" y="612013"/>
                  </a:lnTo>
                  <a:lnTo>
                    <a:pt x="0" y="612013"/>
                  </a:lnTo>
                  <a:close/>
                </a:path>
              </a:pathLst>
            </a:custGeom>
            <a:solidFill>
              <a:srgbClr val="F7F8FA"/>
            </a:solidFill>
          </p:spPr>
        </p:sp>
        <p:sp>
          <p:nvSpPr>
            <p:cNvPr name="TextBox 25" id="25"/>
            <p:cNvSpPr txBox="true"/>
            <p:nvPr/>
          </p:nvSpPr>
          <p:spPr>
            <a:xfrm>
              <a:off x="0" y="-47625"/>
              <a:ext cx="20879994" cy="659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3   internet_service_Fiber optic      SHAP = 0.270   (fiber users churn more)</a:t>
              </a:r>
            </a:p>
          </p:txBody>
        </p:sp>
      </p:grpSp>
      <p:grpSp>
        <p:nvGrpSpPr>
          <p:cNvPr name="Group 26" id="26"/>
          <p:cNvGrpSpPr/>
          <p:nvPr/>
        </p:nvGrpSpPr>
        <p:grpSpPr>
          <a:xfrm rot="0">
            <a:off x="809996" y="6371996"/>
            <a:ext cx="15659995" cy="459000"/>
            <a:chOff x="0" y="0"/>
            <a:chExt cx="20879994" cy="612000"/>
          </a:xfrm>
        </p:grpSpPr>
        <p:sp>
          <p:nvSpPr>
            <p:cNvPr name="Freeform 27" id="27"/>
            <p:cNvSpPr/>
            <p:nvPr/>
          </p:nvSpPr>
          <p:spPr>
            <a:xfrm flipH="false" flipV="false" rot="0">
              <a:off x="0" y="0"/>
              <a:ext cx="20879943" cy="612013"/>
            </a:xfrm>
            <a:custGeom>
              <a:avLst/>
              <a:gdLst/>
              <a:ahLst/>
              <a:cxnLst/>
              <a:rect r="r" b="b" t="t" l="l"/>
              <a:pathLst>
                <a:path h="612013" w="20879943">
                  <a:moveTo>
                    <a:pt x="0" y="0"/>
                  </a:moveTo>
                  <a:lnTo>
                    <a:pt x="20879943" y="0"/>
                  </a:lnTo>
                  <a:lnTo>
                    <a:pt x="20879943" y="612013"/>
                  </a:lnTo>
                  <a:lnTo>
                    <a:pt x="0" y="612013"/>
                  </a:lnTo>
                  <a:close/>
                </a:path>
              </a:pathLst>
            </a:custGeom>
            <a:solidFill>
              <a:srgbClr val="FFFFFF"/>
            </a:solidFill>
          </p:spPr>
        </p:sp>
        <p:sp>
          <p:nvSpPr>
            <p:cNvPr name="TextBox 28" id="28"/>
            <p:cNvSpPr txBox="true"/>
            <p:nvPr/>
          </p:nvSpPr>
          <p:spPr>
            <a:xfrm>
              <a:off x="0" y="-47625"/>
              <a:ext cx="20879994" cy="659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4   payment_method_Electronic check  SHAP = 0.267   (linked to month-to-month)</a:t>
              </a:r>
            </a:p>
          </p:txBody>
        </p:sp>
      </p:grpSp>
      <p:grpSp>
        <p:nvGrpSpPr>
          <p:cNvPr name="Group 29" id="29"/>
          <p:cNvGrpSpPr/>
          <p:nvPr/>
        </p:nvGrpSpPr>
        <p:grpSpPr>
          <a:xfrm rot="0">
            <a:off x="809996" y="6858000"/>
            <a:ext cx="15659995" cy="459000"/>
            <a:chOff x="0" y="0"/>
            <a:chExt cx="20879994" cy="612000"/>
          </a:xfrm>
        </p:grpSpPr>
        <p:sp>
          <p:nvSpPr>
            <p:cNvPr name="Freeform 30" id="30"/>
            <p:cNvSpPr/>
            <p:nvPr/>
          </p:nvSpPr>
          <p:spPr>
            <a:xfrm flipH="false" flipV="false" rot="0">
              <a:off x="0" y="0"/>
              <a:ext cx="20879943" cy="612013"/>
            </a:xfrm>
            <a:custGeom>
              <a:avLst/>
              <a:gdLst/>
              <a:ahLst/>
              <a:cxnLst/>
              <a:rect r="r" b="b" t="t" l="l"/>
              <a:pathLst>
                <a:path h="612013" w="20879943">
                  <a:moveTo>
                    <a:pt x="0" y="0"/>
                  </a:moveTo>
                  <a:lnTo>
                    <a:pt x="20879943" y="0"/>
                  </a:lnTo>
                  <a:lnTo>
                    <a:pt x="20879943" y="612013"/>
                  </a:lnTo>
                  <a:lnTo>
                    <a:pt x="0" y="612013"/>
                  </a:lnTo>
                  <a:close/>
                </a:path>
              </a:pathLst>
            </a:custGeom>
            <a:solidFill>
              <a:srgbClr val="F7F8FA"/>
            </a:solidFill>
          </p:spPr>
        </p:sp>
        <p:sp>
          <p:nvSpPr>
            <p:cNvPr name="TextBox 31" id="31"/>
            <p:cNvSpPr txBox="true"/>
            <p:nvPr/>
          </p:nvSpPr>
          <p:spPr>
            <a:xfrm>
              <a:off x="0" y="-47625"/>
              <a:ext cx="20879994" cy="659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5   monthly_charges                          SHAP = 0.136   (higher charges = risk)</a:t>
              </a:r>
            </a:p>
          </p:txBody>
        </p:sp>
      </p:grpSp>
      <p:sp>
        <p:nvSpPr>
          <p:cNvPr name="TextBox 32" id="32"/>
          <p:cNvSpPr txBox="true"/>
          <p:nvPr/>
        </p:nvSpPr>
        <p:spPr>
          <a:xfrm rot="0">
            <a:off x="901436" y="7504090"/>
            <a:ext cx="15477115" cy="496186"/>
          </a:xfrm>
          <a:prstGeom prst="rect">
            <a:avLst/>
          </a:prstGeom>
        </p:spPr>
        <p:txBody>
          <a:bodyPr anchor="t" rtlCol="false" tIns="0" lIns="0" bIns="0" rIns="0">
            <a:spAutoFit/>
          </a:bodyPr>
          <a:lstStyle/>
          <a:p>
            <a:pPr algn="l">
              <a:lnSpc>
                <a:spcPts val="2340"/>
              </a:lnSpc>
            </a:pPr>
            <a:r>
              <a:rPr lang="en-US" sz="1950">
                <a:solidFill>
                  <a:srgbClr val="57606A"/>
                </a:solidFill>
                <a:latin typeface="Calibri (MS)"/>
                <a:ea typeface="Calibri (MS)"/>
                <a:cs typeface="Calibri (MS)"/>
                <a:sym typeface="Calibri (MS)"/>
              </a:rPr>
              <a:t>Red SHAP value pushes prediction TOWARDS churn   |   Blue SHAP value pushes prediction AWAY FROM churn</a:t>
            </a:r>
          </a:p>
        </p:txBody>
      </p:sp>
      <p:grpSp>
        <p:nvGrpSpPr>
          <p:cNvPr name="Group 33" id="33"/>
          <p:cNvGrpSpPr/>
          <p:nvPr/>
        </p:nvGrpSpPr>
        <p:grpSpPr>
          <a:xfrm rot="0">
            <a:off x="809996" y="8154000"/>
            <a:ext cx="15659995" cy="647995"/>
            <a:chOff x="0" y="0"/>
            <a:chExt cx="20879994" cy="863994"/>
          </a:xfrm>
        </p:grpSpPr>
        <p:sp>
          <p:nvSpPr>
            <p:cNvPr name="Freeform 34" id="34"/>
            <p:cNvSpPr/>
            <p:nvPr/>
          </p:nvSpPr>
          <p:spPr>
            <a:xfrm flipH="false" flipV="false" rot="0">
              <a:off x="0" y="0"/>
              <a:ext cx="20879943" cy="863981"/>
            </a:xfrm>
            <a:custGeom>
              <a:avLst/>
              <a:gdLst/>
              <a:ahLst/>
              <a:cxnLst/>
              <a:rect r="r" b="b" t="t" l="l"/>
              <a:pathLst>
                <a:path h="863981" w="20879943">
                  <a:moveTo>
                    <a:pt x="0" y="0"/>
                  </a:moveTo>
                  <a:lnTo>
                    <a:pt x="20879943" y="0"/>
                  </a:lnTo>
                  <a:lnTo>
                    <a:pt x="20879943" y="863981"/>
                  </a:lnTo>
                  <a:lnTo>
                    <a:pt x="0" y="863981"/>
                  </a:lnTo>
                  <a:close/>
                </a:path>
              </a:pathLst>
            </a:custGeom>
            <a:solidFill>
              <a:srgbClr val="E8F4EC"/>
            </a:solidFill>
          </p:spPr>
        </p:sp>
        <p:sp>
          <p:nvSpPr>
            <p:cNvPr name="TextBox 35" id="35"/>
            <p:cNvSpPr txBox="true"/>
            <p:nvPr/>
          </p:nvSpPr>
          <p:spPr>
            <a:xfrm>
              <a:off x="0" y="-47625"/>
              <a:ext cx="20879994" cy="911619"/>
            </a:xfrm>
            <a:prstGeom prst="rect">
              <a:avLst/>
            </a:prstGeom>
          </p:spPr>
          <p:txBody>
            <a:bodyPr anchor="t" rtlCol="false" tIns="50800" lIns="50800" bIns="50800" rIns="50800"/>
            <a:lstStyle/>
            <a:p>
              <a:pPr algn="l">
                <a:lnSpc>
                  <a:spcPts val="2520"/>
                </a:lnSpc>
              </a:pPr>
              <a:r>
                <a:rPr lang="en-US" sz="2100" b="true">
                  <a:solidFill>
                    <a:srgbClr val="1E2761"/>
                  </a:solidFill>
                  <a:latin typeface="Calibri (MS) Bold"/>
                  <a:ea typeface="Calibri (MS) Bold"/>
                  <a:cs typeface="Calibri (MS) Bold"/>
                  <a:sym typeface="Calibri (MS) Bold"/>
                </a:rPr>
                <a:t>Actionable Insight: A customer on a month-to-month contract with short tenure and fiber internet is your highest-priority retention target.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24353" y="0"/>
            <a:ext cx="14839293" cy="10287000"/>
          </a:xfrm>
          <a:custGeom>
            <a:avLst/>
            <a:gdLst/>
            <a:ahLst/>
            <a:cxnLst/>
            <a:rect r="r" b="b" t="t" l="l"/>
            <a:pathLst>
              <a:path h="10287000" w="14839293">
                <a:moveTo>
                  <a:pt x="0" y="0"/>
                </a:moveTo>
                <a:lnTo>
                  <a:pt x="14839294" y="0"/>
                </a:lnTo>
                <a:lnTo>
                  <a:pt x="14839294" y="10287000"/>
                </a:lnTo>
                <a:lnTo>
                  <a:pt x="0" y="1028700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9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Live Dashboard &amp; API</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809996" y="1565996"/>
            <a:ext cx="15659995" cy="486004"/>
            <a:chOff x="0" y="0"/>
            <a:chExt cx="20879994" cy="648005"/>
          </a:xfrm>
        </p:grpSpPr>
        <p:sp>
          <p:nvSpPr>
            <p:cNvPr name="Freeform 7" id="7"/>
            <p:cNvSpPr/>
            <p:nvPr/>
          </p:nvSpPr>
          <p:spPr>
            <a:xfrm flipH="false" flipV="false" rot="0">
              <a:off x="0" y="0"/>
              <a:ext cx="20879943" cy="647954"/>
            </a:xfrm>
            <a:custGeom>
              <a:avLst/>
              <a:gdLst/>
              <a:ahLst/>
              <a:cxnLst/>
              <a:rect r="r" b="b" t="t" l="l"/>
              <a:pathLst>
                <a:path h="647954" w="20879943">
                  <a:moveTo>
                    <a:pt x="0" y="0"/>
                  </a:moveTo>
                  <a:lnTo>
                    <a:pt x="20879943" y="0"/>
                  </a:lnTo>
                  <a:lnTo>
                    <a:pt x="20879943" y="647954"/>
                  </a:lnTo>
                  <a:lnTo>
                    <a:pt x="0" y="647954"/>
                  </a:lnTo>
                  <a:close/>
                </a:path>
              </a:pathLst>
            </a:custGeom>
            <a:solidFill>
              <a:srgbClr val="1E2761"/>
            </a:solidFill>
          </p:spPr>
        </p:sp>
        <p:sp>
          <p:nvSpPr>
            <p:cNvPr name="TextBox 8" id="8"/>
            <p:cNvSpPr txBox="true"/>
            <p:nvPr/>
          </p:nvSpPr>
          <p:spPr>
            <a:xfrm>
              <a:off x="0" y="-38100"/>
              <a:ext cx="20879994" cy="686105"/>
            </a:xfrm>
            <a:prstGeom prst="rect">
              <a:avLst/>
            </a:prstGeom>
          </p:spPr>
          <p:txBody>
            <a:bodyPr anchor="t" rtlCol="false" tIns="50800" lIns="50800" bIns="50800" rIns="50800"/>
            <a:lstStyle/>
            <a:p>
              <a:pPr algn="l">
                <a:lnSpc>
                  <a:spcPts val="2879"/>
                </a:lnSpc>
              </a:pPr>
              <a:r>
                <a:rPr lang="en-US" sz="2400" b="true">
                  <a:solidFill>
                    <a:srgbClr val="FFFFFF"/>
                  </a:solidFill>
                  <a:latin typeface="Calibri (MS) Bold"/>
                  <a:ea typeface="Calibri (MS) Bold"/>
                  <a:cs typeface="Calibri (MS) Bold"/>
                  <a:sym typeface="Calibri (MS) Bold"/>
                </a:rPr>
                <a:t>FastAPI Backend — REST API v2.0</a:t>
              </a:r>
            </a:p>
          </p:txBody>
        </p:sp>
      </p:grpSp>
      <p:grpSp>
        <p:nvGrpSpPr>
          <p:cNvPr name="Group 9" id="9"/>
          <p:cNvGrpSpPr/>
          <p:nvPr/>
        </p:nvGrpSpPr>
        <p:grpSpPr>
          <a:xfrm rot="0">
            <a:off x="809996" y="2105997"/>
            <a:ext cx="15659995" cy="1080002"/>
            <a:chOff x="0" y="0"/>
            <a:chExt cx="20879994" cy="1440002"/>
          </a:xfrm>
        </p:grpSpPr>
        <p:sp>
          <p:nvSpPr>
            <p:cNvPr name="Freeform 10" id="10"/>
            <p:cNvSpPr/>
            <p:nvPr/>
          </p:nvSpPr>
          <p:spPr>
            <a:xfrm flipH="false" flipV="false" rot="0">
              <a:off x="0" y="0"/>
              <a:ext cx="20879943" cy="1440053"/>
            </a:xfrm>
            <a:custGeom>
              <a:avLst/>
              <a:gdLst/>
              <a:ahLst/>
              <a:cxnLst/>
              <a:rect r="r" b="b" t="t" l="l"/>
              <a:pathLst>
                <a:path h="1440053" w="20879943">
                  <a:moveTo>
                    <a:pt x="0" y="0"/>
                  </a:moveTo>
                  <a:lnTo>
                    <a:pt x="20879943" y="0"/>
                  </a:lnTo>
                  <a:lnTo>
                    <a:pt x="20879943" y="1440053"/>
                  </a:lnTo>
                  <a:lnTo>
                    <a:pt x="0" y="1440053"/>
                  </a:lnTo>
                  <a:close/>
                </a:path>
              </a:pathLst>
            </a:custGeom>
            <a:solidFill>
              <a:srgbClr val="F7F8FA"/>
            </a:solidFill>
          </p:spPr>
        </p:sp>
        <p:sp>
          <p:nvSpPr>
            <p:cNvPr name="TextBox 11" id="11"/>
            <p:cNvSpPr txBox="true"/>
            <p:nvPr/>
          </p:nvSpPr>
          <p:spPr>
            <a:xfrm>
              <a:off x="0" y="-47625"/>
              <a:ext cx="20879994" cy="1487627"/>
            </a:xfrm>
            <a:prstGeom prst="rect">
              <a:avLst/>
            </a:prstGeom>
          </p:spPr>
          <p:txBody>
            <a:bodyPr anchor="t" rtlCol="false" tIns="50800" lIns="50800" bIns="50800" rIns="50800"/>
            <a:lstStyle/>
            <a:p>
              <a:pPr algn="l">
                <a:lnSpc>
                  <a:spcPts val="2340"/>
                </a:lnSpc>
              </a:pPr>
              <a:r>
                <a:rPr lang="en-US" sz="1950">
                  <a:solidFill>
                    <a:srgbClr val="1F2328"/>
                  </a:solidFill>
                  <a:latin typeface="Calibri (MS)"/>
                  <a:ea typeface="Calibri (MS)"/>
                  <a:cs typeface="Calibri (MS)"/>
                  <a:sym typeface="Calibri (MS)"/>
                </a:rPr>
                <a:t>POST /predict   Prediction + probability + risk level (Low/Medium/High/Critical) + recommended action + top-5 SHAP features</a:t>
              </a:r>
            </a:p>
            <a:p>
              <a:pPr algn="l">
                <a:lnSpc>
                  <a:spcPts val="2340"/>
                </a:lnSpc>
              </a:pPr>
              <a:r>
                <a:rPr lang="en-US" sz="1950">
                  <a:solidFill>
                    <a:srgbClr val="1F2328"/>
                  </a:solidFill>
                  <a:latin typeface="Calibri (MS)"/>
                  <a:ea typeface="Calibri (MS)"/>
                  <a:cs typeface="Calibri (MS)"/>
                  <a:sym typeface="Calibri (MS)"/>
                </a:rPr>
                <a:t>POST /explain   Full per-feature SHAP waterfall for any customer — powers the Explainability tab</a:t>
              </a:r>
            </a:p>
          </p:txBody>
        </p:sp>
      </p:grpSp>
      <p:grpSp>
        <p:nvGrpSpPr>
          <p:cNvPr name="Group 12" id="12"/>
          <p:cNvGrpSpPr/>
          <p:nvPr/>
        </p:nvGrpSpPr>
        <p:grpSpPr>
          <a:xfrm rot="0">
            <a:off x="809996" y="3239995"/>
            <a:ext cx="15659995" cy="1187996"/>
            <a:chOff x="0" y="0"/>
            <a:chExt cx="20879994" cy="1583995"/>
          </a:xfrm>
        </p:grpSpPr>
        <p:sp>
          <p:nvSpPr>
            <p:cNvPr name="Freeform 13" id="13"/>
            <p:cNvSpPr/>
            <p:nvPr/>
          </p:nvSpPr>
          <p:spPr>
            <a:xfrm flipH="false" flipV="false" rot="0">
              <a:off x="0" y="0"/>
              <a:ext cx="20879943" cy="1583944"/>
            </a:xfrm>
            <a:custGeom>
              <a:avLst/>
              <a:gdLst/>
              <a:ahLst/>
              <a:cxnLst/>
              <a:rect r="r" b="b" t="t" l="l"/>
              <a:pathLst>
                <a:path h="1583944" w="20879943">
                  <a:moveTo>
                    <a:pt x="0" y="0"/>
                  </a:moveTo>
                  <a:lnTo>
                    <a:pt x="20879943" y="0"/>
                  </a:lnTo>
                  <a:lnTo>
                    <a:pt x="20879943" y="1583944"/>
                  </a:lnTo>
                  <a:lnTo>
                    <a:pt x="0" y="1583944"/>
                  </a:lnTo>
                  <a:close/>
                </a:path>
              </a:pathLst>
            </a:custGeom>
            <a:solidFill>
              <a:srgbClr val="F7F8FA"/>
            </a:solidFill>
          </p:spPr>
        </p:sp>
        <p:sp>
          <p:nvSpPr>
            <p:cNvPr name="TextBox 14" id="14"/>
            <p:cNvSpPr txBox="true"/>
            <p:nvPr/>
          </p:nvSpPr>
          <p:spPr>
            <a:xfrm>
              <a:off x="0" y="-47625"/>
              <a:ext cx="20879994" cy="1631620"/>
            </a:xfrm>
            <a:prstGeom prst="rect">
              <a:avLst/>
            </a:prstGeom>
          </p:spPr>
          <p:txBody>
            <a:bodyPr anchor="t" rtlCol="false" tIns="50800" lIns="50800" bIns="50800" rIns="50800"/>
            <a:lstStyle/>
            <a:p>
              <a:pPr algn="l">
                <a:lnSpc>
                  <a:spcPts val="2340"/>
                </a:lnSpc>
              </a:pPr>
              <a:r>
                <a:rPr lang="en-US" sz="1950">
                  <a:solidFill>
                    <a:srgbClr val="1F2328"/>
                  </a:solidFill>
                  <a:latin typeface="Calibri (MS)"/>
                  <a:ea typeface="Calibri (MS)"/>
                  <a:cs typeface="Calibri (MS)"/>
                  <a:sym typeface="Calibri (MS)"/>
                </a:rPr>
                <a:t>GET/POST /customers   Customer CRUD + prediction history stored in PostgreSQL</a:t>
              </a:r>
            </a:p>
            <a:p>
              <a:pPr algn="l">
                <a:lnSpc>
                  <a:spcPts val="2340"/>
                </a:lnSpc>
              </a:pPr>
              <a:r>
                <a:rPr lang="en-US" sz="1950">
                  <a:solidFill>
                    <a:srgbClr val="1F2328"/>
                  </a:solidFill>
                  <a:latin typeface="Calibri (MS)"/>
                  <a:ea typeface="Calibri (MS)"/>
                  <a:cs typeface="Calibri (MS)"/>
                  <a:sym typeface="Calibri (MS)"/>
                </a:rPr>
                <a:t>GET /analytics   Aggregate churn stats, risk distribution, segment analytics</a:t>
              </a:r>
            </a:p>
            <a:p>
              <a:pPr algn="l">
                <a:lnSpc>
                  <a:spcPts val="2340"/>
                </a:lnSpc>
              </a:pPr>
              <a:r>
                <a:rPr lang="en-US" sz="1950">
                  <a:solidFill>
                    <a:srgbClr val="1F2328"/>
                  </a:solidFill>
                  <a:latin typeface="Calibri (MS)"/>
                  <a:ea typeface="Calibri (MS)"/>
                  <a:cs typeface="Calibri (MS)"/>
                  <a:sym typeface="Calibri (MS)"/>
                </a:rPr>
                <a:t>GET /health   Health check: model loaded status, SHAP enabled, threshold, metadata</a:t>
              </a:r>
            </a:p>
          </p:txBody>
        </p:sp>
      </p:grpSp>
      <p:grpSp>
        <p:nvGrpSpPr>
          <p:cNvPr name="Group 15" id="15"/>
          <p:cNvGrpSpPr/>
          <p:nvPr/>
        </p:nvGrpSpPr>
        <p:grpSpPr>
          <a:xfrm rot="0">
            <a:off x="809996" y="4643999"/>
            <a:ext cx="15659995" cy="486004"/>
            <a:chOff x="0" y="0"/>
            <a:chExt cx="20879994" cy="648005"/>
          </a:xfrm>
        </p:grpSpPr>
        <p:sp>
          <p:nvSpPr>
            <p:cNvPr name="Freeform 16" id="16"/>
            <p:cNvSpPr/>
            <p:nvPr/>
          </p:nvSpPr>
          <p:spPr>
            <a:xfrm flipH="false" flipV="false" rot="0">
              <a:off x="0" y="0"/>
              <a:ext cx="20879943" cy="647954"/>
            </a:xfrm>
            <a:custGeom>
              <a:avLst/>
              <a:gdLst/>
              <a:ahLst/>
              <a:cxnLst/>
              <a:rect r="r" b="b" t="t" l="l"/>
              <a:pathLst>
                <a:path h="647954" w="20879943">
                  <a:moveTo>
                    <a:pt x="0" y="0"/>
                  </a:moveTo>
                  <a:lnTo>
                    <a:pt x="20879943" y="0"/>
                  </a:lnTo>
                  <a:lnTo>
                    <a:pt x="20879943" y="647954"/>
                  </a:lnTo>
                  <a:lnTo>
                    <a:pt x="0" y="647954"/>
                  </a:lnTo>
                  <a:close/>
                </a:path>
              </a:pathLst>
            </a:custGeom>
            <a:solidFill>
              <a:srgbClr val="3B82D4"/>
            </a:solidFill>
          </p:spPr>
        </p:sp>
        <p:sp>
          <p:nvSpPr>
            <p:cNvPr name="TextBox 17" id="17"/>
            <p:cNvSpPr txBox="true"/>
            <p:nvPr/>
          </p:nvSpPr>
          <p:spPr>
            <a:xfrm>
              <a:off x="0" y="-38100"/>
              <a:ext cx="20879994" cy="686105"/>
            </a:xfrm>
            <a:prstGeom prst="rect">
              <a:avLst/>
            </a:prstGeom>
          </p:spPr>
          <p:txBody>
            <a:bodyPr anchor="t" rtlCol="false" tIns="50800" lIns="50800" bIns="50800" rIns="50800"/>
            <a:lstStyle/>
            <a:p>
              <a:pPr algn="l">
                <a:lnSpc>
                  <a:spcPts val="2879"/>
                </a:lnSpc>
              </a:pPr>
              <a:r>
                <a:rPr lang="en-US" sz="2400" b="true">
                  <a:solidFill>
                    <a:srgbClr val="FFFFFF"/>
                  </a:solidFill>
                  <a:latin typeface="Calibri (MS) Bold"/>
                  <a:ea typeface="Calibri (MS) Bold"/>
                  <a:cs typeface="Calibri (MS) Bold"/>
                  <a:sym typeface="Calibri (MS) Bold"/>
                </a:rPr>
                <a:t>Streamlit Dashboard — 5 Interactive Tabs</a:t>
              </a:r>
            </a:p>
          </p:txBody>
        </p:sp>
      </p:grpSp>
      <p:grpSp>
        <p:nvGrpSpPr>
          <p:cNvPr name="Group 18" id="18"/>
          <p:cNvGrpSpPr/>
          <p:nvPr/>
        </p:nvGrpSpPr>
        <p:grpSpPr>
          <a:xfrm rot="0">
            <a:off x="809996" y="5237998"/>
            <a:ext cx="2861996" cy="2429999"/>
            <a:chOff x="0" y="0"/>
            <a:chExt cx="3815994" cy="3239999"/>
          </a:xfrm>
        </p:grpSpPr>
        <p:sp>
          <p:nvSpPr>
            <p:cNvPr name="Freeform 19" id="19"/>
            <p:cNvSpPr/>
            <p:nvPr/>
          </p:nvSpPr>
          <p:spPr>
            <a:xfrm flipH="false" flipV="false" rot="0">
              <a:off x="0" y="0"/>
              <a:ext cx="3815969" cy="3240024"/>
            </a:xfrm>
            <a:custGeom>
              <a:avLst/>
              <a:gdLst/>
              <a:ahLst/>
              <a:cxnLst/>
              <a:rect r="r" b="b" t="t" l="l"/>
              <a:pathLst>
                <a:path h="3240024" w="3815969">
                  <a:moveTo>
                    <a:pt x="0" y="0"/>
                  </a:moveTo>
                  <a:lnTo>
                    <a:pt x="3815969" y="0"/>
                  </a:lnTo>
                  <a:lnTo>
                    <a:pt x="3815969" y="3240024"/>
                  </a:lnTo>
                  <a:lnTo>
                    <a:pt x="0" y="3240024"/>
                  </a:lnTo>
                  <a:close/>
                </a:path>
              </a:pathLst>
            </a:custGeom>
            <a:solidFill>
              <a:srgbClr val="EBF0FF"/>
            </a:solidFill>
          </p:spPr>
        </p:sp>
        <p:sp>
          <p:nvSpPr>
            <p:cNvPr name="TextBox 20" id="20"/>
            <p:cNvSpPr txBox="true"/>
            <p:nvPr/>
          </p:nvSpPr>
          <p:spPr>
            <a:xfrm>
              <a:off x="0" y="-38100"/>
              <a:ext cx="3815994" cy="3278099"/>
            </a:xfrm>
            <a:prstGeom prst="rect">
              <a:avLst/>
            </a:prstGeom>
          </p:spPr>
          <p:txBody>
            <a:bodyPr anchor="t" rtlCol="false" tIns="50800" lIns="50800" bIns="50800" rIns="50800"/>
            <a:lstStyle/>
            <a:p>
              <a:pPr algn="l">
                <a:lnSpc>
                  <a:spcPts val="2160"/>
                </a:lnSpc>
              </a:pPr>
              <a:r>
                <a:rPr lang="en-US" sz="1800">
                  <a:solidFill>
                    <a:srgbClr val="1F2328"/>
                  </a:solidFill>
                  <a:latin typeface="Calibri (MS)"/>
                  <a:ea typeface="Calibri (MS)"/>
                  <a:cs typeface="Calibri (MS)"/>
                  <a:sym typeface="Calibri (MS)"/>
                </a:rPr>
                <a:t>Overview</a:t>
              </a:r>
            </a:p>
            <a:p>
              <a:pPr algn="l">
                <a:lnSpc>
                  <a:spcPts val="2160"/>
                </a:lnSpc>
              </a:pPr>
              <a:r>
                <a:rPr lang="en-US" sz="1800">
                  <a:solidFill>
                    <a:srgbClr val="1F2328"/>
                  </a:solidFill>
                  <a:latin typeface="Calibri (MS)"/>
                  <a:ea typeface="Calibri (MS)"/>
                  <a:cs typeface="Calibri (MS)"/>
                  <a:sym typeface="Calibri (MS)"/>
                </a:rPr>
                <a:t>Churn charts, EDA, K-Means clustering, scatter matrix, demographic breakdowns, data download</a:t>
              </a:r>
            </a:p>
          </p:txBody>
        </p:sp>
      </p:grpSp>
      <p:grpSp>
        <p:nvGrpSpPr>
          <p:cNvPr name="Group 21" id="21"/>
          <p:cNvGrpSpPr/>
          <p:nvPr/>
        </p:nvGrpSpPr>
        <p:grpSpPr>
          <a:xfrm rot="0">
            <a:off x="3834003" y="5237998"/>
            <a:ext cx="2861996" cy="2429999"/>
            <a:chOff x="0" y="0"/>
            <a:chExt cx="3815994" cy="3239999"/>
          </a:xfrm>
        </p:grpSpPr>
        <p:sp>
          <p:nvSpPr>
            <p:cNvPr name="Freeform 22" id="22"/>
            <p:cNvSpPr/>
            <p:nvPr/>
          </p:nvSpPr>
          <p:spPr>
            <a:xfrm flipH="false" flipV="false" rot="0">
              <a:off x="0" y="0"/>
              <a:ext cx="3815969" cy="3240024"/>
            </a:xfrm>
            <a:custGeom>
              <a:avLst/>
              <a:gdLst/>
              <a:ahLst/>
              <a:cxnLst/>
              <a:rect r="r" b="b" t="t" l="l"/>
              <a:pathLst>
                <a:path h="3240024" w="3815969">
                  <a:moveTo>
                    <a:pt x="0" y="0"/>
                  </a:moveTo>
                  <a:lnTo>
                    <a:pt x="3815969" y="0"/>
                  </a:lnTo>
                  <a:lnTo>
                    <a:pt x="3815969" y="3240024"/>
                  </a:lnTo>
                  <a:lnTo>
                    <a:pt x="0" y="3240024"/>
                  </a:lnTo>
                  <a:close/>
                </a:path>
              </a:pathLst>
            </a:custGeom>
            <a:solidFill>
              <a:srgbClr val="EBF0FF"/>
            </a:solidFill>
          </p:spPr>
        </p:sp>
        <p:sp>
          <p:nvSpPr>
            <p:cNvPr name="TextBox 23" id="23"/>
            <p:cNvSpPr txBox="true"/>
            <p:nvPr/>
          </p:nvSpPr>
          <p:spPr>
            <a:xfrm>
              <a:off x="0" y="-38100"/>
              <a:ext cx="3815994" cy="3278099"/>
            </a:xfrm>
            <a:prstGeom prst="rect">
              <a:avLst/>
            </a:prstGeom>
          </p:spPr>
          <p:txBody>
            <a:bodyPr anchor="t" rtlCol="false" tIns="50800" lIns="50800" bIns="50800" rIns="50800"/>
            <a:lstStyle/>
            <a:p>
              <a:pPr algn="l">
                <a:lnSpc>
                  <a:spcPts val="2160"/>
                </a:lnSpc>
              </a:pPr>
              <a:r>
                <a:rPr lang="en-US" sz="1800">
                  <a:solidFill>
                    <a:srgbClr val="1F2328"/>
                  </a:solidFill>
                  <a:latin typeface="Calibri (MS)"/>
                  <a:ea typeface="Calibri (MS)"/>
                  <a:cs typeface="Calibri (MS)"/>
                  <a:sym typeface="Calibri (MS)"/>
                </a:rPr>
                <a:t>Insights</a:t>
              </a:r>
            </a:p>
            <a:p>
              <a:pPr algn="l">
                <a:lnSpc>
                  <a:spcPts val="2160"/>
                </a:lnSpc>
              </a:pPr>
              <a:r>
                <a:rPr lang="en-US" sz="1800">
                  <a:solidFill>
                    <a:srgbClr val="1F2328"/>
                  </a:solidFill>
                  <a:latin typeface="Calibri (MS)"/>
                  <a:ea typeface="Calibri (MS)"/>
                  <a:cs typeface="Calibri (MS)"/>
                  <a:sym typeface="Calibri (MS)"/>
                </a:rPr>
                <a:t>Segment churn rates, correlation heatmap, contract analysis, service usage breakdown</a:t>
              </a:r>
            </a:p>
          </p:txBody>
        </p:sp>
      </p:grpSp>
      <p:grpSp>
        <p:nvGrpSpPr>
          <p:cNvPr name="Group 24" id="24"/>
          <p:cNvGrpSpPr/>
          <p:nvPr/>
        </p:nvGrpSpPr>
        <p:grpSpPr>
          <a:xfrm rot="0">
            <a:off x="6858000" y="5237998"/>
            <a:ext cx="2861996" cy="2429999"/>
            <a:chOff x="0" y="0"/>
            <a:chExt cx="3815994" cy="3239999"/>
          </a:xfrm>
        </p:grpSpPr>
        <p:sp>
          <p:nvSpPr>
            <p:cNvPr name="Freeform 25" id="25"/>
            <p:cNvSpPr/>
            <p:nvPr/>
          </p:nvSpPr>
          <p:spPr>
            <a:xfrm flipH="false" flipV="false" rot="0">
              <a:off x="0" y="0"/>
              <a:ext cx="3815969" cy="3240024"/>
            </a:xfrm>
            <a:custGeom>
              <a:avLst/>
              <a:gdLst/>
              <a:ahLst/>
              <a:cxnLst/>
              <a:rect r="r" b="b" t="t" l="l"/>
              <a:pathLst>
                <a:path h="3240024" w="3815969">
                  <a:moveTo>
                    <a:pt x="0" y="0"/>
                  </a:moveTo>
                  <a:lnTo>
                    <a:pt x="3815969" y="0"/>
                  </a:lnTo>
                  <a:lnTo>
                    <a:pt x="3815969" y="3240024"/>
                  </a:lnTo>
                  <a:lnTo>
                    <a:pt x="0" y="3240024"/>
                  </a:lnTo>
                  <a:close/>
                </a:path>
              </a:pathLst>
            </a:custGeom>
            <a:solidFill>
              <a:srgbClr val="EBF0FF"/>
            </a:solidFill>
          </p:spPr>
        </p:sp>
        <p:sp>
          <p:nvSpPr>
            <p:cNvPr name="TextBox 26" id="26"/>
            <p:cNvSpPr txBox="true"/>
            <p:nvPr/>
          </p:nvSpPr>
          <p:spPr>
            <a:xfrm>
              <a:off x="0" y="-38100"/>
              <a:ext cx="3815994" cy="3278099"/>
            </a:xfrm>
            <a:prstGeom prst="rect">
              <a:avLst/>
            </a:prstGeom>
          </p:spPr>
          <p:txBody>
            <a:bodyPr anchor="t" rtlCol="false" tIns="50800" lIns="50800" bIns="50800" rIns="50800"/>
            <a:lstStyle/>
            <a:p>
              <a:pPr algn="l">
                <a:lnSpc>
                  <a:spcPts val="2160"/>
                </a:lnSpc>
              </a:pPr>
              <a:r>
                <a:rPr lang="en-US" sz="1800">
                  <a:solidFill>
                    <a:srgbClr val="1F2328"/>
                  </a:solidFill>
                  <a:latin typeface="Calibri (MS)"/>
                  <a:ea typeface="Calibri (MS)"/>
                  <a:cs typeface="Calibri (MS)"/>
                  <a:sym typeface="Calibri (MS)"/>
                </a:rPr>
                <a:t>Prediction</a:t>
              </a:r>
            </a:p>
            <a:p>
              <a:pPr algn="l">
                <a:lnSpc>
                  <a:spcPts val="2160"/>
                </a:lnSpc>
              </a:pPr>
              <a:r>
                <a:rPr lang="en-US" sz="1800">
                  <a:solidFill>
                    <a:srgbClr val="1F2328"/>
                  </a:solidFill>
                  <a:latin typeface="Calibri (MS)"/>
                  <a:ea typeface="Calibri (MS)"/>
                  <a:cs typeface="Calibri (MS)"/>
                  <a:sym typeface="Calibri (MS)"/>
                </a:rPr>
                <a:t>Real-time churn prediction form with inline SHAP chart and risk level badge</a:t>
              </a:r>
            </a:p>
          </p:txBody>
        </p:sp>
      </p:grpSp>
      <p:grpSp>
        <p:nvGrpSpPr>
          <p:cNvPr name="Group 27" id="27"/>
          <p:cNvGrpSpPr/>
          <p:nvPr/>
        </p:nvGrpSpPr>
        <p:grpSpPr>
          <a:xfrm rot="0">
            <a:off x="9881997" y="5237998"/>
            <a:ext cx="2861996" cy="2429999"/>
            <a:chOff x="0" y="0"/>
            <a:chExt cx="3815994" cy="3239999"/>
          </a:xfrm>
        </p:grpSpPr>
        <p:sp>
          <p:nvSpPr>
            <p:cNvPr name="Freeform 28" id="28"/>
            <p:cNvSpPr/>
            <p:nvPr/>
          </p:nvSpPr>
          <p:spPr>
            <a:xfrm flipH="false" flipV="false" rot="0">
              <a:off x="0" y="0"/>
              <a:ext cx="3815969" cy="3240024"/>
            </a:xfrm>
            <a:custGeom>
              <a:avLst/>
              <a:gdLst/>
              <a:ahLst/>
              <a:cxnLst/>
              <a:rect r="r" b="b" t="t" l="l"/>
              <a:pathLst>
                <a:path h="3240024" w="3815969">
                  <a:moveTo>
                    <a:pt x="0" y="0"/>
                  </a:moveTo>
                  <a:lnTo>
                    <a:pt x="3815969" y="0"/>
                  </a:lnTo>
                  <a:lnTo>
                    <a:pt x="3815969" y="3240024"/>
                  </a:lnTo>
                  <a:lnTo>
                    <a:pt x="0" y="3240024"/>
                  </a:lnTo>
                  <a:close/>
                </a:path>
              </a:pathLst>
            </a:custGeom>
            <a:solidFill>
              <a:srgbClr val="EBF0FF"/>
            </a:solidFill>
          </p:spPr>
        </p:sp>
        <p:sp>
          <p:nvSpPr>
            <p:cNvPr name="TextBox 29" id="29"/>
            <p:cNvSpPr txBox="true"/>
            <p:nvPr/>
          </p:nvSpPr>
          <p:spPr>
            <a:xfrm>
              <a:off x="0" y="-38100"/>
              <a:ext cx="3815994" cy="3278099"/>
            </a:xfrm>
            <a:prstGeom prst="rect">
              <a:avLst/>
            </a:prstGeom>
          </p:spPr>
          <p:txBody>
            <a:bodyPr anchor="t" rtlCol="false" tIns="50800" lIns="50800" bIns="50800" rIns="50800"/>
            <a:lstStyle/>
            <a:p>
              <a:pPr algn="l">
                <a:lnSpc>
                  <a:spcPts val="2160"/>
                </a:lnSpc>
              </a:pPr>
              <a:r>
                <a:rPr lang="en-US" sz="1800">
                  <a:solidFill>
                    <a:srgbClr val="1F2328"/>
                  </a:solidFill>
                  <a:latin typeface="Calibri (MS)"/>
                  <a:ea typeface="Calibri (MS)"/>
                  <a:cs typeface="Calibri (MS)"/>
                  <a:sym typeface="Calibri (MS)"/>
                </a:rPr>
                <a:t>Explainability</a:t>
              </a:r>
            </a:p>
            <a:p>
              <a:pPr algn="l">
                <a:lnSpc>
                  <a:spcPts val="2160"/>
                </a:lnSpc>
              </a:pPr>
              <a:r>
                <a:rPr lang="en-US" sz="1800">
                  <a:solidFill>
                    <a:srgbClr val="1F2328"/>
                  </a:solidFill>
                  <a:latin typeface="Calibri (MS)"/>
                  <a:ea typeface="Calibri (MS)"/>
                  <a:cs typeface="Calibri (MS)"/>
                  <a:sym typeface="Calibri (MS)"/>
                </a:rPr>
                <a:t>Global SHAP bar + beeswarm plots, per-customer waterfall chart</a:t>
              </a:r>
            </a:p>
          </p:txBody>
        </p:sp>
      </p:grpSp>
      <p:grpSp>
        <p:nvGrpSpPr>
          <p:cNvPr name="Group 30" id="30"/>
          <p:cNvGrpSpPr/>
          <p:nvPr/>
        </p:nvGrpSpPr>
        <p:grpSpPr>
          <a:xfrm rot="0">
            <a:off x="12906004" y="5237998"/>
            <a:ext cx="2861996" cy="2429999"/>
            <a:chOff x="0" y="0"/>
            <a:chExt cx="3815994" cy="3239999"/>
          </a:xfrm>
        </p:grpSpPr>
        <p:sp>
          <p:nvSpPr>
            <p:cNvPr name="Freeform 31" id="31"/>
            <p:cNvSpPr/>
            <p:nvPr/>
          </p:nvSpPr>
          <p:spPr>
            <a:xfrm flipH="false" flipV="false" rot="0">
              <a:off x="0" y="0"/>
              <a:ext cx="3815969" cy="3240024"/>
            </a:xfrm>
            <a:custGeom>
              <a:avLst/>
              <a:gdLst/>
              <a:ahLst/>
              <a:cxnLst/>
              <a:rect r="r" b="b" t="t" l="l"/>
              <a:pathLst>
                <a:path h="3240024" w="3815969">
                  <a:moveTo>
                    <a:pt x="0" y="0"/>
                  </a:moveTo>
                  <a:lnTo>
                    <a:pt x="3815969" y="0"/>
                  </a:lnTo>
                  <a:lnTo>
                    <a:pt x="3815969" y="3240024"/>
                  </a:lnTo>
                  <a:lnTo>
                    <a:pt x="0" y="3240024"/>
                  </a:lnTo>
                  <a:close/>
                </a:path>
              </a:pathLst>
            </a:custGeom>
            <a:solidFill>
              <a:srgbClr val="EBF0FF"/>
            </a:solidFill>
          </p:spPr>
        </p:sp>
        <p:sp>
          <p:nvSpPr>
            <p:cNvPr name="TextBox 32" id="32"/>
            <p:cNvSpPr txBox="true"/>
            <p:nvPr/>
          </p:nvSpPr>
          <p:spPr>
            <a:xfrm>
              <a:off x="0" y="-38100"/>
              <a:ext cx="3815994" cy="3278099"/>
            </a:xfrm>
            <a:prstGeom prst="rect">
              <a:avLst/>
            </a:prstGeom>
          </p:spPr>
          <p:txBody>
            <a:bodyPr anchor="t" rtlCol="false" tIns="50800" lIns="50800" bIns="50800" rIns="50800"/>
            <a:lstStyle/>
            <a:p>
              <a:pPr algn="l">
                <a:lnSpc>
                  <a:spcPts val="2160"/>
                </a:lnSpc>
              </a:pPr>
              <a:r>
                <a:rPr lang="en-US" sz="1800">
                  <a:solidFill>
                    <a:srgbClr val="1F2328"/>
                  </a:solidFill>
                  <a:latin typeface="Calibri (MS)"/>
                  <a:ea typeface="Calibri (MS)"/>
                  <a:cs typeface="Calibri (MS)"/>
                  <a:sym typeface="Calibri (MS)"/>
                </a:rPr>
                <a:t>About</a:t>
              </a:r>
            </a:p>
            <a:p>
              <a:pPr algn="l">
                <a:lnSpc>
                  <a:spcPts val="2160"/>
                </a:lnSpc>
              </a:pPr>
              <a:r>
                <a:rPr lang="en-US" sz="1800">
                  <a:solidFill>
                    <a:srgbClr val="1F2328"/>
                  </a:solidFill>
                  <a:latin typeface="Calibri (MS)"/>
                  <a:ea typeface="Calibri (MS)"/>
                  <a:cs typeface="Calibri (MS)"/>
                  <a:sym typeface="Calibri (MS)"/>
                </a:rPr>
                <a:t>Project info, author contact, model metrics summary, tech stack</a:t>
              </a:r>
            </a:p>
          </p:txBody>
        </p:sp>
      </p:grpSp>
      <p:grpSp>
        <p:nvGrpSpPr>
          <p:cNvPr name="Group 33" id="33"/>
          <p:cNvGrpSpPr/>
          <p:nvPr/>
        </p:nvGrpSpPr>
        <p:grpSpPr>
          <a:xfrm rot="0">
            <a:off x="809996" y="7884004"/>
            <a:ext cx="15659995" cy="593998"/>
            <a:chOff x="0" y="0"/>
            <a:chExt cx="20879994" cy="791997"/>
          </a:xfrm>
        </p:grpSpPr>
        <p:sp>
          <p:nvSpPr>
            <p:cNvPr name="Freeform 34" id="34"/>
            <p:cNvSpPr/>
            <p:nvPr/>
          </p:nvSpPr>
          <p:spPr>
            <a:xfrm flipH="false" flipV="false" rot="0">
              <a:off x="0" y="0"/>
              <a:ext cx="20879943" cy="791972"/>
            </a:xfrm>
            <a:custGeom>
              <a:avLst/>
              <a:gdLst/>
              <a:ahLst/>
              <a:cxnLst/>
              <a:rect r="r" b="b" t="t" l="l"/>
              <a:pathLst>
                <a:path h="791972" w="20879943">
                  <a:moveTo>
                    <a:pt x="0" y="0"/>
                  </a:moveTo>
                  <a:lnTo>
                    <a:pt x="20879943" y="0"/>
                  </a:lnTo>
                  <a:lnTo>
                    <a:pt x="20879943" y="791972"/>
                  </a:lnTo>
                  <a:lnTo>
                    <a:pt x="0" y="791972"/>
                  </a:lnTo>
                  <a:close/>
                </a:path>
              </a:pathLst>
            </a:custGeom>
            <a:solidFill>
              <a:srgbClr val="F7F8FA"/>
            </a:solidFill>
          </p:spPr>
        </p:sp>
        <p:sp>
          <p:nvSpPr>
            <p:cNvPr name="TextBox 35" id="35"/>
            <p:cNvSpPr txBox="true"/>
            <p:nvPr/>
          </p:nvSpPr>
          <p:spPr>
            <a:xfrm>
              <a:off x="0" y="-47625"/>
              <a:ext cx="20879994" cy="839622"/>
            </a:xfrm>
            <a:prstGeom prst="rect">
              <a:avLst/>
            </a:prstGeom>
          </p:spPr>
          <p:txBody>
            <a:bodyPr anchor="t" rtlCol="false" tIns="50800" lIns="50800" bIns="50800" rIns="50800"/>
            <a:lstStyle/>
            <a:p>
              <a:pPr algn="l">
                <a:lnSpc>
                  <a:spcPts val="2340"/>
                </a:lnSpc>
              </a:pPr>
              <a:r>
                <a:rPr lang="en-US" sz="1950">
                  <a:solidFill>
                    <a:srgbClr val="57606A"/>
                  </a:solidFill>
                  <a:latin typeface="Calibri (MS)"/>
                  <a:ea typeface="Calibri (MS)"/>
                  <a:cs typeface="Calibri (MS)"/>
                  <a:sym typeface="Calibri (MS)"/>
                </a:rPr>
                <a:t>Infrastructure:  Docker Compose  |  PostgreSQL (prediction logging)  |  Swagger UI at /docs  |  CORS enabled  |  Runs locally or on any cloud</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1378"/>
            <a:ext cx="18288000" cy="7431944"/>
          </a:xfrm>
          <a:custGeom>
            <a:avLst/>
            <a:gdLst/>
            <a:ahLst/>
            <a:cxnLst/>
            <a:rect r="r" b="b" t="t" l="l"/>
            <a:pathLst>
              <a:path h="7431944" w="18288000">
                <a:moveTo>
                  <a:pt x="0" y="0"/>
                </a:moveTo>
                <a:lnTo>
                  <a:pt x="18288000" y="0"/>
                </a:lnTo>
                <a:lnTo>
                  <a:pt x="18288000" y="7431944"/>
                </a:lnTo>
                <a:lnTo>
                  <a:pt x="0" y="7431944"/>
                </a:lnTo>
                <a:lnTo>
                  <a:pt x="0" y="0"/>
                </a:lnTo>
                <a:close/>
              </a:path>
            </a:pathLst>
          </a:custGeom>
          <a:blipFill>
            <a:blip r:embed="rId2"/>
            <a:stretch>
              <a:fillRect l="-665" t="0" r="-665" b="0"/>
            </a:stretch>
          </a:blipFill>
        </p:spPr>
      </p:sp>
      <p:sp>
        <p:nvSpPr>
          <p:cNvPr name="Freeform 3" id="3"/>
          <p:cNvSpPr/>
          <p:nvPr/>
        </p:nvSpPr>
        <p:spPr>
          <a:xfrm flipH="false" flipV="false" rot="0">
            <a:off x="0" y="7031478"/>
            <a:ext cx="18288000" cy="3255522"/>
          </a:xfrm>
          <a:custGeom>
            <a:avLst/>
            <a:gdLst/>
            <a:ahLst/>
            <a:cxnLst/>
            <a:rect r="r" b="b" t="t" l="l"/>
            <a:pathLst>
              <a:path h="3255522" w="18288000">
                <a:moveTo>
                  <a:pt x="0" y="0"/>
                </a:moveTo>
                <a:lnTo>
                  <a:pt x="18288000" y="0"/>
                </a:lnTo>
                <a:lnTo>
                  <a:pt x="18288000" y="3255522"/>
                </a:lnTo>
                <a:lnTo>
                  <a:pt x="0" y="3255522"/>
                </a:lnTo>
                <a:lnTo>
                  <a:pt x="0" y="0"/>
                </a:lnTo>
                <a:close/>
              </a:path>
            </a:pathLst>
          </a:custGeom>
          <a:blipFill>
            <a:blip r:embed="rId3"/>
            <a:stretch>
              <a:fillRect l="0" t="0" r="-1568" b="-140686"/>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4525598"/>
          </a:xfrm>
          <a:custGeom>
            <a:avLst/>
            <a:gdLst/>
            <a:ahLst/>
            <a:cxnLst/>
            <a:rect r="r" b="b" t="t" l="l"/>
            <a:pathLst>
              <a:path h="4525598" w="18288000">
                <a:moveTo>
                  <a:pt x="0" y="0"/>
                </a:moveTo>
                <a:lnTo>
                  <a:pt x="18288000" y="0"/>
                </a:lnTo>
                <a:lnTo>
                  <a:pt x="18288000" y="4525598"/>
                </a:lnTo>
                <a:lnTo>
                  <a:pt x="0" y="4525598"/>
                </a:lnTo>
                <a:lnTo>
                  <a:pt x="0" y="0"/>
                </a:lnTo>
                <a:close/>
              </a:path>
            </a:pathLst>
          </a:custGeom>
          <a:blipFill>
            <a:blip r:embed="rId2"/>
            <a:stretch>
              <a:fillRect l="0" t="-70466" r="0" b="0"/>
            </a:stretch>
          </a:blipFill>
        </p:spPr>
      </p:sp>
      <p:sp>
        <p:nvSpPr>
          <p:cNvPr name="Freeform 3" id="3"/>
          <p:cNvSpPr/>
          <p:nvPr/>
        </p:nvSpPr>
        <p:spPr>
          <a:xfrm flipH="false" flipV="false" rot="0">
            <a:off x="0" y="4525598"/>
            <a:ext cx="18288000" cy="5761402"/>
          </a:xfrm>
          <a:custGeom>
            <a:avLst/>
            <a:gdLst/>
            <a:ahLst/>
            <a:cxnLst/>
            <a:rect r="r" b="b" t="t" l="l"/>
            <a:pathLst>
              <a:path h="5761402" w="18288000">
                <a:moveTo>
                  <a:pt x="0" y="0"/>
                </a:moveTo>
                <a:lnTo>
                  <a:pt x="18288000" y="0"/>
                </a:lnTo>
                <a:lnTo>
                  <a:pt x="18288000" y="5761402"/>
                </a:lnTo>
                <a:lnTo>
                  <a:pt x="0" y="5761402"/>
                </a:lnTo>
                <a:lnTo>
                  <a:pt x="0" y="0"/>
                </a:lnTo>
                <a:close/>
              </a:path>
            </a:pathLst>
          </a:custGeom>
          <a:blipFill>
            <a:blip r:embed="rId3"/>
            <a:stretch>
              <a:fillRect l="0" t="0" r="0" b="-58351"/>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487746"/>
            <a:ext cx="18574353" cy="7799254"/>
          </a:xfrm>
          <a:custGeom>
            <a:avLst/>
            <a:gdLst/>
            <a:ahLst/>
            <a:cxnLst/>
            <a:rect r="r" b="b" t="t" l="l"/>
            <a:pathLst>
              <a:path h="7799254" w="18574353">
                <a:moveTo>
                  <a:pt x="0" y="0"/>
                </a:moveTo>
                <a:lnTo>
                  <a:pt x="18574353" y="0"/>
                </a:lnTo>
                <a:lnTo>
                  <a:pt x="18574353" y="7799254"/>
                </a:lnTo>
                <a:lnTo>
                  <a:pt x="0" y="7799254"/>
                </a:lnTo>
                <a:lnTo>
                  <a:pt x="0" y="0"/>
                </a:lnTo>
                <a:close/>
              </a:path>
            </a:pathLst>
          </a:custGeom>
          <a:blipFill>
            <a:blip r:embed="rId2"/>
            <a:stretch>
              <a:fillRect l="0" t="0" r="0" b="0"/>
            </a:stretch>
          </a:blipFill>
        </p:spPr>
      </p:sp>
      <p:sp>
        <p:nvSpPr>
          <p:cNvPr name="Freeform 3" id="3"/>
          <p:cNvSpPr/>
          <p:nvPr/>
        </p:nvSpPr>
        <p:spPr>
          <a:xfrm flipH="false" flipV="false" rot="0">
            <a:off x="0" y="0"/>
            <a:ext cx="18288000" cy="2872953"/>
          </a:xfrm>
          <a:custGeom>
            <a:avLst/>
            <a:gdLst/>
            <a:ahLst/>
            <a:cxnLst/>
            <a:rect r="r" b="b" t="t" l="l"/>
            <a:pathLst>
              <a:path h="2872953" w="18288000">
                <a:moveTo>
                  <a:pt x="0" y="0"/>
                </a:moveTo>
                <a:lnTo>
                  <a:pt x="18288000" y="0"/>
                </a:lnTo>
                <a:lnTo>
                  <a:pt x="18288000" y="2872953"/>
                </a:lnTo>
                <a:lnTo>
                  <a:pt x="0" y="2872953"/>
                </a:lnTo>
                <a:lnTo>
                  <a:pt x="0" y="0"/>
                </a:lnTo>
                <a:close/>
              </a:path>
            </a:pathLst>
          </a:custGeom>
          <a:blipFill>
            <a:blip r:embed="rId3"/>
            <a:stretch>
              <a:fillRect l="0" t="-122327" r="0" b="-95229"/>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16428"/>
            <a:ext cx="18288000" cy="8854145"/>
          </a:xfrm>
          <a:custGeom>
            <a:avLst/>
            <a:gdLst/>
            <a:ahLst/>
            <a:cxnLst/>
            <a:rect r="r" b="b" t="t" l="l"/>
            <a:pathLst>
              <a:path h="8854145" w="18288000">
                <a:moveTo>
                  <a:pt x="0" y="0"/>
                </a:moveTo>
                <a:lnTo>
                  <a:pt x="18288000" y="0"/>
                </a:lnTo>
                <a:lnTo>
                  <a:pt x="18288000" y="8854144"/>
                </a:lnTo>
                <a:lnTo>
                  <a:pt x="0" y="8854144"/>
                </a:lnTo>
                <a:lnTo>
                  <a:pt x="0" y="0"/>
                </a:lnTo>
                <a:close/>
              </a:path>
            </a:pathLst>
          </a:custGeom>
          <a:blipFill>
            <a:blip r:embed="rId2"/>
            <a:stretch>
              <a:fillRect l="-277" t="0" r="-277"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17019"/>
            <a:ext cx="18288000" cy="8852962"/>
          </a:xfrm>
          <a:custGeom>
            <a:avLst/>
            <a:gdLst/>
            <a:ahLst/>
            <a:cxnLst/>
            <a:rect r="r" b="b" t="t" l="l"/>
            <a:pathLst>
              <a:path h="8852962" w="18288000">
                <a:moveTo>
                  <a:pt x="0" y="0"/>
                </a:moveTo>
                <a:lnTo>
                  <a:pt x="18288000" y="0"/>
                </a:lnTo>
                <a:lnTo>
                  <a:pt x="18288000" y="8852962"/>
                </a:lnTo>
                <a:lnTo>
                  <a:pt x="0" y="8852962"/>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10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Tech Stack &amp; Architecture</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809996" y="1620002"/>
            <a:ext cx="5130003" cy="431997"/>
            <a:chOff x="0" y="0"/>
            <a:chExt cx="6840004" cy="575996"/>
          </a:xfrm>
        </p:grpSpPr>
        <p:sp>
          <p:nvSpPr>
            <p:cNvPr name="Freeform 7" id="7"/>
            <p:cNvSpPr/>
            <p:nvPr/>
          </p:nvSpPr>
          <p:spPr>
            <a:xfrm flipH="false" flipV="false" rot="0">
              <a:off x="0" y="0"/>
              <a:ext cx="6839966" cy="575945"/>
            </a:xfrm>
            <a:custGeom>
              <a:avLst/>
              <a:gdLst/>
              <a:ahLst/>
              <a:cxnLst/>
              <a:rect r="r" b="b" t="t" l="l"/>
              <a:pathLst>
                <a:path h="575945" w="6839966">
                  <a:moveTo>
                    <a:pt x="0" y="0"/>
                  </a:moveTo>
                  <a:lnTo>
                    <a:pt x="6839966" y="0"/>
                  </a:lnTo>
                  <a:lnTo>
                    <a:pt x="6839966" y="575945"/>
                  </a:lnTo>
                  <a:lnTo>
                    <a:pt x="0" y="575945"/>
                  </a:lnTo>
                  <a:close/>
                </a:path>
              </a:pathLst>
            </a:custGeom>
            <a:solidFill>
              <a:srgbClr val="1E2761"/>
            </a:solidFill>
          </p:spPr>
        </p:sp>
        <p:sp>
          <p:nvSpPr>
            <p:cNvPr name="TextBox 8" id="8"/>
            <p:cNvSpPr txBox="true"/>
            <p:nvPr/>
          </p:nvSpPr>
          <p:spPr>
            <a:xfrm>
              <a:off x="0" y="-57150"/>
              <a:ext cx="6840004" cy="633146"/>
            </a:xfrm>
            <a:prstGeom prst="rect">
              <a:avLst/>
            </a:prstGeom>
          </p:spPr>
          <p:txBody>
            <a:bodyPr anchor="t" rtlCol="false" tIns="50800" lIns="50800" bIns="50800" rIns="50800"/>
            <a:lstStyle/>
            <a:p>
              <a:pPr algn="l">
                <a:lnSpc>
                  <a:spcPts val="2700"/>
                </a:lnSpc>
              </a:pPr>
              <a:r>
                <a:rPr lang="en-US" sz="2250" b="true">
                  <a:solidFill>
                    <a:srgbClr val="FFFFFF"/>
                  </a:solidFill>
                  <a:latin typeface="Calibri (MS) Bold"/>
                  <a:ea typeface="Calibri (MS) Bold"/>
                  <a:cs typeface="Calibri (MS) Bold"/>
                  <a:sym typeface="Calibri (MS) Bold"/>
                </a:rPr>
                <a:t>Machine Learning</a:t>
              </a:r>
            </a:p>
          </p:txBody>
        </p:sp>
      </p:grpSp>
      <p:grpSp>
        <p:nvGrpSpPr>
          <p:cNvPr name="Group 9" id="9"/>
          <p:cNvGrpSpPr/>
          <p:nvPr/>
        </p:nvGrpSpPr>
        <p:grpSpPr>
          <a:xfrm rot="0">
            <a:off x="809996" y="2105997"/>
            <a:ext cx="5130003" cy="2970000"/>
            <a:chOff x="0" y="0"/>
            <a:chExt cx="6840004" cy="3960000"/>
          </a:xfrm>
        </p:grpSpPr>
        <p:sp>
          <p:nvSpPr>
            <p:cNvPr name="Freeform 10" id="10"/>
            <p:cNvSpPr/>
            <p:nvPr/>
          </p:nvSpPr>
          <p:spPr>
            <a:xfrm flipH="false" flipV="false" rot="0">
              <a:off x="0" y="0"/>
              <a:ext cx="6839966" cy="3959987"/>
            </a:xfrm>
            <a:custGeom>
              <a:avLst/>
              <a:gdLst/>
              <a:ahLst/>
              <a:cxnLst/>
              <a:rect r="r" b="b" t="t" l="l"/>
              <a:pathLst>
                <a:path h="3959987" w="6839966">
                  <a:moveTo>
                    <a:pt x="0" y="0"/>
                  </a:moveTo>
                  <a:lnTo>
                    <a:pt x="6839966" y="0"/>
                  </a:lnTo>
                  <a:lnTo>
                    <a:pt x="6839966" y="3959987"/>
                  </a:lnTo>
                  <a:lnTo>
                    <a:pt x="0" y="3959987"/>
                  </a:lnTo>
                  <a:close/>
                </a:path>
              </a:pathLst>
            </a:custGeom>
            <a:solidFill>
              <a:srgbClr val="F7F8FA"/>
            </a:solidFill>
          </p:spPr>
        </p:sp>
        <p:sp>
          <p:nvSpPr>
            <p:cNvPr name="TextBox 11" id="11"/>
            <p:cNvSpPr txBox="true"/>
            <p:nvPr/>
          </p:nvSpPr>
          <p:spPr>
            <a:xfrm>
              <a:off x="0" y="-47625"/>
              <a:ext cx="6840004" cy="4007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scikit-learn 1.6.1</a:t>
              </a:r>
            </a:p>
            <a:p>
              <a:pPr algn="l">
                <a:lnSpc>
                  <a:spcPts val="2520"/>
                </a:lnSpc>
              </a:pPr>
              <a:r>
                <a:rPr lang="en-US" sz="2100">
                  <a:solidFill>
                    <a:srgbClr val="1F2328"/>
                  </a:solidFill>
                  <a:latin typeface="Calibri (MS)"/>
                  <a:ea typeface="Calibri (MS)"/>
                  <a:cs typeface="Calibri (MS)"/>
                  <a:sym typeface="Calibri (MS)"/>
                </a:rPr>
                <a:t>imblearn (SMOTE)</a:t>
              </a:r>
            </a:p>
            <a:p>
              <a:pPr algn="l">
                <a:lnSpc>
                  <a:spcPts val="2520"/>
                </a:lnSpc>
              </a:pPr>
              <a:r>
                <a:rPr lang="en-US" sz="2100">
                  <a:solidFill>
                    <a:srgbClr val="1F2328"/>
                  </a:solidFill>
                  <a:latin typeface="Calibri (MS)"/>
                  <a:ea typeface="Calibri (MS)"/>
                  <a:cs typeface="Calibri (MS)"/>
                  <a:sym typeface="Calibri (MS)"/>
                </a:rPr>
                <a:t>SHAP (TreeExplainer)</a:t>
              </a:r>
            </a:p>
            <a:p>
              <a:pPr algn="l">
                <a:lnSpc>
                  <a:spcPts val="2520"/>
                </a:lnSpc>
              </a:pPr>
              <a:r>
                <a:rPr lang="en-US" sz="2100">
                  <a:solidFill>
                    <a:srgbClr val="1F2328"/>
                  </a:solidFill>
                  <a:latin typeface="Calibri (MS)"/>
                  <a:ea typeface="Calibri (MS)"/>
                  <a:cs typeface="Calibri (MS)"/>
                  <a:sym typeface="Calibri (MS)"/>
                </a:rPr>
                <a:t>Pandas / NumPy</a:t>
              </a:r>
            </a:p>
            <a:p>
              <a:pPr algn="l">
                <a:lnSpc>
                  <a:spcPts val="2520"/>
                </a:lnSpc>
              </a:pPr>
              <a:r>
                <a:rPr lang="en-US" sz="2100">
                  <a:solidFill>
                    <a:srgbClr val="1F2328"/>
                  </a:solidFill>
                  <a:latin typeface="Calibri (MS)"/>
                  <a:ea typeface="Calibri (MS)"/>
                  <a:cs typeface="Calibri (MS)"/>
                  <a:sym typeface="Calibri (MS)"/>
                </a:rPr>
                <a:t>Matplotlib</a:t>
              </a:r>
            </a:p>
            <a:p>
              <a:pPr algn="l">
                <a:lnSpc>
                  <a:spcPts val="2520"/>
                </a:lnSpc>
              </a:pPr>
              <a:r>
                <a:rPr lang="en-US" sz="2100">
                  <a:solidFill>
                    <a:srgbClr val="1F2328"/>
                  </a:solidFill>
                  <a:latin typeface="Calibri (MS)"/>
                  <a:ea typeface="Calibri (MS)"/>
                  <a:cs typeface="Calibri (MS)"/>
                  <a:sym typeface="Calibri (MS)"/>
                </a:rPr>
                <a:t>GradientBoostingClassifier</a:t>
              </a:r>
            </a:p>
            <a:p>
              <a:pPr algn="l">
                <a:lnSpc>
                  <a:spcPts val="2520"/>
                </a:lnSpc>
              </a:pPr>
              <a:r>
                <a:rPr lang="en-US" sz="2100">
                  <a:solidFill>
                    <a:srgbClr val="1F2328"/>
                  </a:solidFill>
                  <a:latin typeface="Calibri (MS)"/>
                  <a:ea typeface="Calibri (MS)"/>
                  <a:cs typeface="Calibri (MS)"/>
                  <a:sym typeface="Calibri (MS)"/>
                </a:rPr>
                <a:t>RandomizedSearchCV</a:t>
              </a:r>
            </a:p>
          </p:txBody>
        </p:sp>
      </p:grpSp>
      <p:grpSp>
        <p:nvGrpSpPr>
          <p:cNvPr name="Group 12" id="12"/>
          <p:cNvGrpSpPr/>
          <p:nvPr/>
        </p:nvGrpSpPr>
        <p:grpSpPr>
          <a:xfrm rot="0">
            <a:off x="6480000" y="1620002"/>
            <a:ext cx="5130003" cy="431997"/>
            <a:chOff x="0" y="0"/>
            <a:chExt cx="6840004" cy="575996"/>
          </a:xfrm>
        </p:grpSpPr>
        <p:sp>
          <p:nvSpPr>
            <p:cNvPr name="Freeform 13" id="13"/>
            <p:cNvSpPr/>
            <p:nvPr/>
          </p:nvSpPr>
          <p:spPr>
            <a:xfrm flipH="false" flipV="false" rot="0">
              <a:off x="0" y="0"/>
              <a:ext cx="6839966" cy="575945"/>
            </a:xfrm>
            <a:custGeom>
              <a:avLst/>
              <a:gdLst/>
              <a:ahLst/>
              <a:cxnLst/>
              <a:rect r="r" b="b" t="t" l="l"/>
              <a:pathLst>
                <a:path h="575945" w="6839966">
                  <a:moveTo>
                    <a:pt x="0" y="0"/>
                  </a:moveTo>
                  <a:lnTo>
                    <a:pt x="6839966" y="0"/>
                  </a:lnTo>
                  <a:lnTo>
                    <a:pt x="6839966" y="575945"/>
                  </a:lnTo>
                  <a:lnTo>
                    <a:pt x="0" y="575945"/>
                  </a:lnTo>
                  <a:close/>
                </a:path>
              </a:pathLst>
            </a:custGeom>
            <a:solidFill>
              <a:srgbClr val="1E2761"/>
            </a:solidFill>
          </p:spPr>
        </p:sp>
        <p:sp>
          <p:nvSpPr>
            <p:cNvPr name="TextBox 14" id="14"/>
            <p:cNvSpPr txBox="true"/>
            <p:nvPr/>
          </p:nvSpPr>
          <p:spPr>
            <a:xfrm>
              <a:off x="0" y="-57150"/>
              <a:ext cx="6840004" cy="633146"/>
            </a:xfrm>
            <a:prstGeom prst="rect">
              <a:avLst/>
            </a:prstGeom>
          </p:spPr>
          <p:txBody>
            <a:bodyPr anchor="t" rtlCol="false" tIns="50800" lIns="50800" bIns="50800" rIns="50800"/>
            <a:lstStyle/>
            <a:p>
              <a:pPr algn="l">
                <a:lnSpc>
                  <a:spcPts val="2700"/>
                </a:lnSpc>
              </a:pPr>
              <a:r>
                <a:rPr lang="en-US" sz="2250" b="true">
                  <a:solidFill>
                    <a:srgbClr val="FFFFFF"/>
                  </a:solidFill>
                  <a:latin typeface="Calibri (MS) Bold"/>
                  <a:ea typeface="Calibri (MS) Bold"/>
                  <a:cs typeface="Calibri (MS) Bold"/>
                  <a:sym typeface="Calibri (MS) Bold"/>
                </a:rPr>
                <a:t>Backend API</a:t>
              </a:r>
            </a:p>
          </p:txBody>
        </p:sp>
      </p:grpSp>
      <p:grpSp>
        <p:nvGrpSpPr>
          <p:cNvPr name="Group 15" id="15"/>
          <p:cNvGrpSpPr/>
          <p:nvPr/>
        </p:nvGrpSpPr>
        <p:grpSpPr>
          <a:xfrm rot="0">
            <a:off x="6480000" y="2105997"/>
            <a:ext cx="5130003" cy="2970000"/>
            <a:chOff x="0" y="0"/>
            <a:chExt cx="6840004" cy="3960000"/>
          </a:xfrm>
        </p:grpSpPr>
        <p:sp>
          <p:nvSpPr>
            <p:cNvPr name="Freeform 16" id="16"/>
            <p:cNvSpPr/>
            <p:nvPr/>
          </p:nvSpPr>
          <p:spPr>
            <a:xfrm flipH="false" flipV="false" rot="0">
              <a:off x="0" y="0"/>
              <a:ext cx="6839966" cy="3959987"/>
            </a:xfrm>
            <a:custGeom>
              <a:avLst/>
              <a:gdLst/>
              <a:ahLst/>
              <a:cxnLst/>
              <a:rect r="r" b="b" t="t" l="l"/>
              <a:pathLst>
                <a:path h="3959987" w="6839966">
                  <a:moveTo>
                    <a:pt x="0" y="0"/>
                  </a:moveTo>
                  <a:lnTo>
                    <a:pt x="6839966" y="0"/>
                  </a:lnTo>
                  <a:lnTo>
                    <a:pt x="6839966" y="3959987"/>
                  </a:lnTo>
                  <a:lnTo>
                    <a:pt x="0" y="3959987"/>
                  </a:lnTo>
                  <a:close/>
                </a:path>
              </a:pathLst>
            </a:custGeom>
            <a:solidFill>
              <a:srgbClr val="F7F8FA"/>
            </a:solidFill>
          </p:spPr>
        </p:sp>
        <p:sp>
          <p:nvSpPr>
            <p:cNvPr name="TextBox 17" id="17"/>
            <p:cNvSpPr txBox="true"/>
            <p:nvPr/>
          </p:nvSpPr>
          <p:spPr>
            <a:xfrm>
              <a:off x="0" y="-47625"/>
              <a:ext cx="6840004" cy="4007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FastAPI v2.0</a:t>
              </a:r>
            </a:p>
            <a:p>
              <a:pPr algn="l">
                <a:lnSpc>
                  <a:spcPts val="2520"/>
                </a:lnSpc>
              </a:pPr>
              <a:r>
                <a:rPr lang="en-US" sz="2100">
                  <a:solidFill>
                    <a:srgbClr val="1F2328"/>
                  </a:solidFill>
                  <a:latin typeface="Calibri (MS)"/>
                  <a:ea typeface="Calibri (MS)"/>
                  <a:cs typeface="Calibri (MS)"/>
                  <a:sym typeface="Calibri (MS)"/>
                </a:rPr>
                <a:t>SQLAlchemy</a:t>
              </a:r>
            </a:p>
            <a:p>
              <a:pPr algn="l">
                <a:lnSpc>
                  <a:spcPts val="2520"/>
                </a:lnSpc>
              </a:pPr>
              <a:r>
                <a:rPr lang="en-US" sz="2100">
                  <a:solidFill>
                    <a:srgbClr val="1F2328"/>
                  </a:solidFill>
                  <a:latin typeface="Calibri (MS)"/>
                  <a:ea typeface="Calibri (MS)"/>
                  <a:cs typeface="Calibri (MS)"/>
                  <a:sym typeface="Calibri (MS)"/>
                </a:rPr>
                <a:t>Pydantic schemas</a:t>
              </a:r>
            </a:p>
            <a:p>
              <a:pPr algn="l">
                <a:lnSpc>
                  <a:spcPts val="2520"/>
                </a:lnSpc>
              </a:pPr>
              <a:r>
                <a:rPr lang="en-US" sz="2100">
                  <a:solidFill>
                    <a:srgbClr val="1F2328"/>
                  </a:solidFill>
                  <a:latin typeface="Calibri (MS)"/>
                  <a:ea typeface="Calibri (MS)"/>
                  <a:cs typeface="Calibri (MS)"/>
                  <a:sym typeface="Calibri (MS)"/>
                </a:rPr>
                <a:t>PostgreSQL</a:t>
              </a:r>
            </a:p>
            <a:p>
              <a:pPr algn="l">
                <a:lnSpc>
                  <a:spcPts val="2520"/>
                </a:lnSpc>
              </a:pPr>
              <a:r>
                <a:rPr lang="en-US" sz="2100">
                  <a:solidFill>
                    <a:srgbClr val="1F2328"/>
                  </a:solidFill>
                  <a:latin typeface="Calibri (MS)"/>
                  <a:ea typeface="Calibri (MS)"/>
                  <a:cs typeface="Calibri (MS)"/>
                  <a:sym typeface="Calibri (MS)"/>
                </a:rPr>
                <a:t>uvicorn</a:t>
              </a:r>
            </a:p>
            <a:p>
              <a:pPr algn="l">
                <a:lnSpc>
                  <a:spcPts val="2520"/>
                </a:lnSpc>
              </a:pPr>
              <a:r>
                <a:rPr lang="en-US" sz="2100">
                  <a:solidFill>
                    <a:srgbClr val="1F2328"/>
                  </a:solidFill>
                  <a:latin typeface="Calibri (MS)"/>
                  <a:ea typeface="Calibri (MS)"/>
                  <a:cs typeface="Calibri (MS)"/>
                  <a:sym typeface="Calibri (MS)"/>
                </a:rPr>
                <a:t>CORS Middleware</a:t>
              </a:r>
            </a:p>
            <a:p>
              <a:pPr algn="l">
                <a:lnSpc>
                  <a:spcPts val="2520"/>
                </a:lnSpc>
              </a:pPr>
              <a:r>
                <a:rPr lang="en-US" sz="2100">
                  <a:solidFill>
                    <a:srgbClr val="1F2328"/>
                  </a:solidFill>
                  <a:latin typeface="Calibri (MS)"/>
                  <a:ea typeface="Calibri (MS)"/>
                  <a:cs typeface="Calibri (MS)"/>
                  <a:sym typeface="Calibri (MS)"/>
                </a:rPr>
                <a:t>Swagger UI (/docs)</a:t>
              </a:r>
            </a:p>
          </p:txBody>
        </p:sp>
      </p:grpSp>
      <p:grpSp>
        <p:nvGrpSpPr>
          <p:cNvPr name="Group 18" id="18"/>
          <p:cNvGrpSpPr/>
          <p:nvPr/>
        </p:nvGrpSpPr>
        <p:grpSpPr>
          <a:xfrm rot="0">
            <a:off x="12150004" y="1620002"/>
            <a:ext cx="5130003" cy="431997"/>
            <a:chOff x="0" y="0"/>
            <a:chExt cx="6840004" cy="575996"/>
          </a:xfrm>
        </p:grpSpPr>
        <p:sp>
          <p:nvSpPr>
            <p:cNvPr name="Freeform 19" id="19"/>
            <p:cNvSpPr/>
            <p:nvPr/>
          </p:nvSpPr>
          <p:spPr>
            <a:xfrm flipH="false" flipV="false" rot="0">
              <a:off x="0" y="0"/>
              <a:ext cx="6839966" cy="575945"/>
            </a:xfrm>
            <a:custGeom>
              <a:avLst/>
              <a:gdLst/>
              <a:ahLst/>
              <a:cxnLst/>
              <a:rect r="r" b="b" t="t" l="l"/>
              <a:pathLst>
                <a:path h="575945" w="6839966">
                  <a:moveTo>
                    <a:pt x="0" y="0"/>
                  </a:moveTo>
                  <a:lnTo>
                    <a:pt x="6839966" y="0"/>
                  </a:lnTo>
                  <a:lnTo>
                    <a:pt x="6839966" y="575945"/>
                  </a:lnTo>
                  <a:lnTo>
                    <a:pt x="0" y="575945"/>
                  </a:lnTo>
                  <a:close/>
                </a:path>
              </a:pathLst>
            </a:custGeom>
            <a:solidFill>
              <a:srgbClr val="3B82D4"/>
            </a:solidFill>
          </p:spPr>
        </p:sp>
        <p:sp>
          <p:nvSpPr>
            <p:cNvPr name="TextBox 20" id="20"/>
            <p:cNvSpPr txBox="true"/>
            <p:nvPr/>
          </p:nvSpPr>
          <p:spPr>
            <a:xfrm>
              <a:off x="0" y="-57150"/>
              <a:ext cx="6840004" cy="633146"/>
            </a:xfrm>
            <a:prstGeom prst="rect">
              <a:avLst/>
            </a:prstGeom>
          </p:spPr>
          <p:txBody>
            <a:bodyPr anchor="t" rtlCol="false" tIns="50800" lIns="50800" bIns="50800" rIns="50800"/>
            <a:lstStyle/>
            <a:p>
              <a:pPr algn="l">
                <a:lnSpc>
                  <a:spcPts val="2700"/>
                </a:lnSpc>
              </a:pPr>
              <a:r>
                <a:rPr lang="en-US" sz="2250" b="true">
                  <a:solidFill>
                    <a:srgbClr val="FFFFFF"/>
                  </a:solidFill>
                  <a:latin typeface="Calibri (MS) Bold"/>
                  <a:ea typeface="Calibri (MS) Bold"/>
                  <a:cs typeface="Calibri (MS) Bold"/>
                  <a:sym typeface="Calibri (MS) Bold"/>
                </a:rPr>
                <a:t>Frontend Dashboard</a:t>
              </a:r>
            </a:p>
          </p:txBody>
        </p:sp>
      </p:grpSp>
      <p:grpSp>
        <p:nvGrpSpPr>
          <p:cNvPr name="Group 21" id="21"/>
          <p:cNvGrpSpPr/>
          <p:nvPr/>
        </p:nvGrpSpPr>
        <p:grpSpPr>
          <a:xfrm rot="0">
            <a:off x="12150004" y="2105997"/>
            <a:ext cx="5130003" cy="2970000"/>
            <a:chOff x="0" y="0"/>
            <a:chExt cx="6840004" cy="3960000"/>
          </a:xfrm>
        </p:grpSpPr>
        <p:sp>
          <p:nvSpPr>
            <p:cNvPr name="Freeform 22" id="22"/>
            <p:cNvSpPr/>
            <p:nvPr/>
          </p:nvSpPr>
          <p:spPr>
            <a:xfrm flipH="false" flipV="false" rot="0">
              <a:off x="0" y="0"/>
              <a:ext cx="6839966" cy="3959987"/>
            </a:xfrm>
            <a:custGeom>
              <a:avLst/>
              <a:gdLst/>
              <a:ahLst/>
              <a:cxnLst/>
              <a:rect r="r" b="b" t="t" l="l"/>
              <a:pathLst>
                <a:path h="3959987" w="6839966">
                  <a:moveTo>
                    <a:pt x="0" y="0"/>
                  </a:moveTo>
                  <a:lnTo>
                    <a:pt x="6839966" y="0"/>
                  </a:lnTo>
                  <a:lnTo>
                    <a:pt x="6839966" y="3959987"/>
                  </a:lnTo>
                  <a:lnTo>
                    <a:pt x="0" y="3959987"/>
                  </a:lnTo>
                  <a:close/>
                </a:path>
              </a:pathLst>
            </a:custGeom>
            <a:solidFill>
              <a:srgbClr val="F7F8FA"/>
            </a:solidFill>
          </p:spPr>
        </p:sp>
        <p:sp>
          <p:nvSpPr>
            <p:cNvPr name="TextBox 23" id="23"/>
            <p:cNvSpPr txBox="true"/>
            <p:nvPr/>
          </p:nvSpPr>
          <p:spPr>
            <a:xfrm>
              <a:off x="0" y="-47625"/>
              <a:ext cx="6840004" cy="4007625"/>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Streamlit</a:t>
              </a:r>
            </a:p>
            <a:p>
              <a:pPr algn="l">
                <a:lnSpc>
                  <a:spcPts val="2520"/>
                </a:lnSpc>
              </a:pPr>
              <a:r>
                <a:rPr lang="en-US" sz="2100">
                  <a:solidFill>
                    <a:srgbClr val="1F2328"/>
                  </a:solidFill>
                  <a:latin typeface="Calibri (MS)"/>
                  <a:ea typeface="Calibri (MS)"/>
                  <a:cs typeface="Calibri (MS)"/>
                  <a:sym typeface="Calibri (MS)"/>
                </a:rPr>
                <a:t>Plotly</a:t>
              </a:r>
            </a:p>
            <a:p>
              <a:pPr algn="l">
                <a:lnSpc>
                  <a:spcPts val="2520"/>
                </a:lnSpc>
              </a:pPr>
              <a:r>
                <a:rPr lang="en-US" sz="2100">
                  <a:solidFill>
                    <a:srgbClr val="1F2328"/>
                  </a:solidFill>
                  <a:latin typeface="Calibri (MS)"/>
                  <a:ea typeface="Calibri (MS)"/>
                  <a:cs typeface="Calibri (MS)"/>
                  <a:sym typeface="Calibri (MS)"/>
                </a:rPr>
                <a:t>Pandas</a:t>
              </a:r>
            </a:p>
            <a:p>
              <a:pPr algn="l">
                <a:lnSpc>
                  <a:spcPts val="2520"/>
                </a:lnSpc>
              </a:pPr>
              <a:r>
                <a:rPr lang="en-US" sz="2100">
                  <a:solidFill>
                    <a:srgbClr val="1F2328"/>
                  </a:solidFill>
                  <a:latin typeface="Calibri (MS)"/>
                  <a:ea typeface="Calibri (MS)"/>
                  <a:cs typeface="Calibri (MS)"/>
                  <a:sym typeface="Calibri (MS)"/>
                </a:rPr>
                <a:t>requests</a:t>
              </a:r>
            </a:p>
            <a:p>
              <a:pPr algn="l">
                <a:lnSpc>
                  <a:spcPts val="2520"/>
                </a:lnSpc>
              </a:pPr>
              <a:r>
                <a:rPr lang="en-US" sz="2100">
                  <a:solidFill>
                    <a:srgbClr val="1F2328"/>
                  </a:solidFill>
                  <a:latin typeface="Calibri (MS)"/>
                  <a:ea typeface="Calibri (MS)"/>
                  <a:cs typeface="Calibri (MS)"/>
                  <a:sym typeface="Calibri (MS)"/>
                </a:rPr>
                <a:t>K-Means Clustering</a:t>
              </a:r>
            </a:p>
            <a:p>
              <a:pPr algn="l">
                <a:lnSpc>
                  <a:spcPts val="2520"/>
                </a:lnSpc>
              </a:pPr>
              <a:r>
                <a:rPr lang="en-US" sz="2100">
                  <a:solidFill>
                    <a:srgbClr val="1F2328"/>
                  </a:solidFill>
                  <a:latin typeface="Calibri (MS)"/>
                  <a:ea typeface="Calibri (MS)"/>
                  <a:cs typeface="Calibri (MS)"/>
                  <a:sym typeface="Calibri (MS)"/>
                </a:rPr>
                <a:t>5 Interactive Tabs</a:t>
              </a:r>
            </a:p>
            <a:p>
              <a:pPr algn="l">
                <a:lnSpc>
                  <a:spcPts val="2520"/>
                </a:lnSpc>
              </a:pPr>
              <a:r>
                <a:rPr lang="en-US" sz="2100">
                  <a:solidFill>
                    <a:srgbClr val="1F2328"/>
                  </a:solidFill>
                  <a:latin typeface="Calibri (MS)"/>
                  <a:ea typeface="Calibri (MS)"/>
                  <a:cs typeface="Calibri (MS)"/>
                  <a:sym typeface="Calibri (MS)"/>
                </a:rPr>
                <a:t>Sidebar Filters</a:t>
              </a:r>
            </a:p>
          </p:txBody>
        </p:sp>
      </p:grpSp>
      <p:grpSp>
        <p:nvGrpSpPr>
          <p:cNvPr name="Group 24" id="24"/>
          <p:cNvGrpSpPr/>
          <p:nvPr/>
        </p:nvGrpSpPr>
        <p:grpSpPr>
          <a:xfrm rot="0">
            <a:off x="809996" y="5399999"/>
            <a:ext cx="15659995" cy="431997"/>
            <a:chOff x="0" y="0"/>
            <a:chExt cx="20879994" cy="575996"/>
          </a:xfrm>
        </p:grpSpPr>
        <p:sp>
          <p:nvSpPr>
            <p:cNvPr name="Freeform 25" id="25"/>
            <p:cNvSpPr/>
            <p:nvPr/>
          </p:nvSpPr>
          <p:spPr>
            <a:xfrm flipH="false" flipV="false" rot="0">
              <a:off x="0" y="0"/>
              <a:ext cx="20879943" cy="575945"/>
            </a:xfrm>
            <a:custGeom>
              <a:avLst/>
              <a:gdLst/>
              <a:ahLst/>
              <a:cxnLst/>
              <a:rect r="r" b="b" t="t" l="l"/>
              <a:pathLst>
                <a:path h="575945" w="20879943">
                  <a:moveTo>
                    <a:pt x="0" y="0"/>
                  </a:moveTo>
                  <a:lnTo>
                    <a:pt x="20879943" y="0"/>
                  </a:lnTo>
                  <a:lnTo>
                    <a:pt x="20879943" y="575945"/>
                  </a:lnTo>
                  <a:lnTo>
                    <a:pt x="0" y="575945"/>
                  </a:lnTo>
                  <a:close/>
                </a:path>
              </a:pathLst>
            </a:custGeom>
            <a:solidFill>
              <a:srgbClr val="EBF0FF"/>
            </a:solidFill>
          </p:spPr>
        </p:sp>
        <p:sp>
          <p:nvSpPr>
            <p:cNvPr name="TextBox 26" id="26"/>
            <p:cNvSpPr txBox="true"/>
            <p:nvPr/>
          </p:nvSpPr>
          <p:spPr>
            <a:xfrm>
              <a:off x="0" y="-57150"/>
              <a:ext cx="20879994" cy="633146"/>
            </a:xfrm>
            <a:prstGeom prst="rect">
              <a:avLst/>
            </a:prstGeom>
          </p:spPr>
          <p:txBody>
            <a:bodyPr anchor="t" rtlCol="false" tIns="50800" lIns="50800" bIns="50800" rIns="50800"/>
            <a:lstStyle/>
            <a:p>
              <a:pPr algn="l">
                <a:lnSpc>
                  <a:spcPts val="2700"/>
                </a:lnSpc>
              </a:pPr>
              <a:r>
                <a:rPr lang="en-US" sz="2250" b="true">
                  <a:solidFill>
                    <a:srgbClr val="1E2761"/>
                  </a:solidFill>
                  <a:latin typeface="Calibri (MS) Bold"/>
                  <a:ea typeface="Calibri (MS) Bold"/>
                  <a:cs typeface="Calibri (MS) Bold"/>
                  <a:sym typeface="Calibri (MS) Bold"/>
                </a:rPr>
                <a:t>Architecture Flow</a:t>
              </a:r>
            </a:p>
          </p:txBody>
        </p:sp>
      </p:grpSp>
      <p:sp>
        <p:nvSpPr>
          <p:cNvPr name="TextBox 27" id="27"/>
          <p:cNvSpPr txBox="true"/>
          <p:nvPr/>
        </p:nvSpPr>
        <p:spPr>
          <a:xfrm rot="0">
            <a:off x="901436" y="5938095"/>
            <a:ext cx="15477115" cy="658187"/>
          </a:xfrm>
          <a:prstGeom prst="rect">
            <a:avLst/>
          </a:prstGeom>
        </p:spPr>
        <p:txBody>
          <a:bodyPr anchor="t" rtlCol="false" tIns="0" lIns="0" bIns="0" rIns="0">
            <a:spAutoFit/>
          </a:bodyPr>
          <a:lstStyle/>
          <a:p>
            <a:pPr algn="l">
              <a:lnSpc>
                <a:spcPts val="2520"/>
              </a:lnSpc>
            </a:pPr>
            <a:r>
              <a:rPr lang="en-US" sz="2100">
                <a:solidFill>
                  <a:srgbClr val="1F2328"/>
                </a:solidFill>
                <a:latin typeface="Calibri (MS)"/>
                <a:ea typeface="Calibri (MS)"/>
                <a:cs typeface="Calibri (MS)"/>
                <a:sym typeface="Calibri (MS)"/>
              </a:rPr>
              <a:t>CSV / PostgreSQL   -&gt;   Feature Engineering (engineer_features)   -&gt;   imblearn Pipeline (SMOTE + GBM)   -&gt;   model.pkl + shap_values.pkl   -&gt;   FastAPI   -&gt;   Streamlit</a:t>
            </a:r>
          </a:p>
        </p:txBody>
      </p:sp>
      <p:grpSp>
        <p:nvGrpSpPr>
          <p:cNvPr name="Group 28" id="28"/>
          <p:cNvGrpSpPr/>
          <p:nvPr/>
        </p:nvGrpSpPr>
        <p:grpSpPr>
          <a:xfrm rot="0">
            <a:off x="809996" y="6804003"/>
            <a:ext cx="7829998" cy="431997"/>
            <a:chOff x="0" y="0"/>
            <a:chExt cx="10439997" cy="575996"/>
          </a:xfrm>
        </p:grpSpPr>
        <p:sp>
          <p:nvSpPr>
            <p:cNvPr name="Freeform 29" id="29"/>
            <p:cNvSpPr/>
            <p:nvPr/>
          </p:nvSpPr>
          <p:spPr>
            <a:xfrm flipH="false" flipV="false" rot="0">
              <a:off x="0" y="0"/>
              <a:ext cx="10440035" cy="575945"/>
            </a:xfrm>
            <a:custGeom>
              <a:avLst/>
              <a:gdLst/>
              <a:ahLst/>
              <a:cxnLst/>
              <a:rect r="r" b="b" t="t" l="l"/>
              <a:pathLst>
                <a:path h="575945" w="10440035">
                  <a:moveTo>
                    <a:pt x="0" y="0"/>
                  </a:moveTo>
                  <a:lnTo>
                    <a:pt x="10440035" y="0"/>
                  </a:lnTo>
                  <a:lnTo>
                    <a:pt x="10440035" y="575945"/>
                  </a:lnTo>
                  <a:lnTo>
                    <a:pt x="0" y="575945"/>
                  </a:lnTo>
                  <a:close/>
                </a:path>
              </a:pathLst>
            </a:custGeom>
            <a:solidFill>
              <a:srgbClr val="1B5E35"/>
            </a:solidFill>
          </p:spPr>
        </p:sp>
        <p:sp>
          <p:nvSpPr>
            <p:cNvPr name="TextBox 30" id="30"/>
            <p:cNvSpPr txBox="true"/>
            <p:nvPr/>
          </p:nvSpPr>
          <p:spPr>
            <a:xfrm>
              <a:off x="0" y="-57150"/>
              <a:ext cx="10439997" cy="633146"/>
            </a:xfrm>
            <a:prstGeom prst="rect">
              <a:avLst/>
            </a:prstGeom>
          </p:spPr>
          <p:txBody>
            <a:bodyPr anchor="t" rtlCol="false" tIns="50800" lIns="50800" bIns="50800" rIns="50800"/>
            <a:lstStyle/>
            <a:p>
              <a:pPr algn="l">
                <a:lnSpc>
                  <a:spcPts val="2700"/>
                </a:lnSpc>
              </a:pPr>
              <a:r>
                <a:rPr lang="en-US" sz="2250" b="true">
                  <a:solidFill>
                    <a:srgbClr val="FFFFFF"/>
                  </a:solidFill>
                  <a:latin typeface="Calibri (MS) Bold"/>
                  <a:ea typeface="Calibri (MS) Bold"/>
                  <a:cs typeface="Calibri (MS) Bold"/>
                  <a:sym typeface="Calibri (MS) Bold"/>
                </a:rPr>
                <a:t>Infrastructure &amp; DevOps</a:t>
              </a:r>
            </a:p>
          </p:txBody>
        </p:sp>
      </p:grpSp>
      <p:grpSp>
        <p:nvGrpSpPr>
          <p:cNvPr name="Group 31" id="31"/>
          <p:cNvGrpSpPr/>
          <p:nvPr/>
        </p:nvGrpSpPr>
        <p:grpSpPr>
          <a:xfrm rot="0">
            <a:off x="809996" y="7289997"/>
            <a:ext cx="7829998" cy="1620002"/>
            <a:chOff x="0" y="0"/>
            <a:chExt cx="10439997" cy="2160003"/>
          </a:xfrm>
        </p:grpSpPr>
        <p:sp>
          <p:nvSpPr>
            <p:cNvPr name="Freeform 32" id="32"/>
            <p:cNvSpPr/>
            <p:nvPr/>
          </p:nvSpPr>
          <p:spPr>
            <a:xfrm flipH="false" flipV="false" rot="0">
              <a:off x="0" y="0"/>
              <a:ext cx="10440035" cy="2160016"/>
            </a:xfrm>
            <a:custGeom>
              <a:avLst/>
              <a:gdLst/>
              <a:ahLst/>
              <a:cxnLst/>
              <a:rect r="r" b="b" t="t" l="l"/>
              <a:pathLst>
                <a:path h="2160016" w="10440035">
                  <a:moveTo>
                    <a:pt x="0" y="0"/>
                  </a:moveTo>
                  <a:lnTo>
                    <a:pt x="10440035" y="0"/>
                  </a:lnTo>
                  <a:lnTo>
                    <a:pt x="10440035" y="2160016"/>
                  </a:lnTo>
                  <a:lnTo>
                    <a:pt x="0" y="2160016"/>
                  </a:lnTo>
                  <a:close/>
                </a:path>
              </a:pathLst>
            </a:custGeom>
            <a:solidFill>
              <a:srgbClr val="F7F8FA"/>
            </a:solidFill>
          </p:spPr>
        </p:sp>
        <p:sp>
          <p:nvSpPr>
            <p:cNvPr name="TextBox 33" id="33"/>
            <p:cNvSpPr txBox="true"/>
            <p:nvPr/>
          </p:nvSpPr>
          <p:spPr>
            <a:xfrm>
              <a:off x="0" y="-47625"/>
              <a:ext cx="10439997" cy="2207628"/>
            </a:xfrm>
            <a:prstGeom prst="rect">
              <a:avLst/>
            </a:prstGeom>
          </p:spPr>
          <p:txBody>
            <a:bodyPr anchor="t" rtlCol="false" tIns="50800" lIns="50800" bIns="50800" rIns="50800"/>
            <a:lstStyle/>
            <a:p>
              <a:pPr algn="l">
                <a:lnSpc>
                  <a:spcPts val="2340"/>
                </a:lnSpc>
              </a:pPr>
              <a:r>
                <a:rPr lang="en-US" sz="1950">
                  <a:solidFill>
                    <a:srgbClr val="1F2328"/>
                  </a:solidFill>
                  <a:latin typeface="Calibri (MS)"/>
                  <a:ea typeface="Calibri (MS)"/>
                  <a:cs typeface="Calibri (MS)"/>
                  <a:sym typeface="Calibri (MS)"/>
                </a:rPr>
                <a:t>Docker Compose (multi-container: api + frontend + postgres)</a:t>
              </a:r>
            </a:p>
            <a:p>
              <a:pPr algn="l">
                <a:lnSpc>
                  <a:spcPts val="2340"/>
                </a:lnSpc>
              </a:pPr>
              <a:r>
                <a:rPr lang="en-US" sz="1950">
                  <a:solidFill>
                    <a:srgbClr val="1F2328"/>
                  </a:solidFill>
                  <a:latin typeface="Calibri (MS)"/>
                  <a:ea typeface="Calibri (MS)"/>
                  <a:cs typeface="Calibri (MS)"/>
                  <a:sym typeface="Calibri (MS)"/>
                </a:rPr>
                <a:t>Env-based configuration (DB_USER, DB_PASSWORD, etc.)</a:t>
              </a:r>
            </a:p>
            <a:p>
              <a:pPr algn="l">
                <a:lnSpc>
                  <a:spcPts val="2340"/>
                </a:lnSpc>
              </a:pPr>
              <a:r>
                <a:rPr lang="en-US" sz="1950">
                  <a:solidFill>
                    <a:srgbClr val="1F2328"/>
                  </a:solidFill>
                  <a:latin typeface="Calibri (MS)"/>
                  <a:ea typeface="Calibri (MS)"/>
                  <a:cs typeface="Calibri (MS)"/>
                  <a:sym typeface="Calibri (MS)"/>
                </a:rPr>
                <a:t>Graceful CSV fallback when PostgreSQL is unavailable</a:t>
              </a:r>
            </a:p>
            <a:p>
              <a:pPr algn="l">
                <a:lnSpc>
                  <a:spcPts val="2340"/>
                </a:lnSpc>
              </a:pPr>
              <a:r>
                <a:rPr lang="en-US" sz="1950">
                  <a:solidFill>
                    <a:srgbClr val="1F2328"/>
                  </a:solidFill>
                  <a:latin typeface="Calibri (MS)"/>
                  <a:ea typeface="Calibri (MS)"/>
                  <a:cs typeface="Calibri (MS)"/>
                  <a:sym typeface="Calibri (MS)"/>
                </a:rPr>
                <a:t>Prediction history logged to PostgreSQL (PredictionHistoryModel)</a:t>
              </a:r>
            </a:p>
          </p:txBody>
        </p:sp>
      </p:grpSp>
      <p:grpSp>
        <p:nvGrpSpPr>
          <p:cNvPr name="Group 34" id="34"/>
          <p:cNvGrpSpPr/>
          <p:nvPr/>
        </p:nvGrpSpPr>
        <p:grpSpPr>
          <a:xfrm rot="0">
            <a:off x="9180004" y="6804003"/>
            <a:ext cx="7560002" cy="431997"/>
            <a:chOff x="0" y="0"/>
            <a:chExt cx="10080003" cy="575996"/>
          </a:xfrm>
        </p:grpSpPr>
        <p:sp>
          <p:nvSpPr>
            <p:cNvPr name="Freeform 35" id="35"/>
            <p:cNvSpPr/>
            <p:nvPr/>
          </p:nvSpPr>
          <p:spPr>
            <a:xfrm flipH="false" flipV="false" rot="0">
              <a:off x="0" y="0"/>
              <a:ext cx="10079990" cy="575945"/>
            </a:xfrm>
            <a:custGeom>
              <a:avLst/>
              <a:gdLst/>
              <a:ahLst/>
              <a:cxnLst/>
              <a:rect r="r" b="b" t="t" l="l"/>
              <a:pathLst>
                <a:path h="575945" w="10079990">
                  <a:moveTo>
                    <a:pt x="0" y="0"/>
                  </a:moveTo>
                  <a:lnTo>
                    <a:pt x="10079990" y="0"/>
                  </a:lnTo>
                  <a:lnTo>
                    <a:pt x="10079990" y="575945"/>
                  </a:lnTo>
                  <a:lnTo>
                    <a:pt x="0" y="575945"/>
                  </a:lnTo>
                  <a:close/>
                </a:path>
              </a:pathLst>
            </a:custGeom>
            <a:solidFill>
              <a:srgbClr val="1B5E35"/>
            </a:solidFill>
          </p:spPr>
        </p:sp>
        <p:sp>
          <p:nvSpPr>
            <p:cNvPr name="TextBox 36" id="36"/>
            <p:cNvSpPr txBox="true"/>
            <p:nvPr/>
          </p:nvSpPr>
          <p:spPr>
            <a:xfrm>
              <a:off x="0" y="-57150"/>
              <a:ext cx="10080003" cy="633146"/>
            </a:xfrm>
            <a:prstGeom prst="rect">
              <a:avLst/>
            </a:prstGeom>
          </p:spPr>
          <p:txBody>
            <a:bodyPr anchor="t" rtlCol="false" tIns="50800" lIns="50800" bIns="50800" rIns="50800"/>
            <a:lstStyle/>
            <a:p>
              <a:pPr algn="l">
                <a:lnSpc>
                  <a:spcPts val="2700"/>
                </a:lnSpc>
              </a:pPr>
              <a:r>
                <a:rPr lang="en-US" sz="2250" b="true">
                  <a:solidFill>
                    <a:srgbClr val="FFFFFF"/>
                  </a:solidFill>
                  <a:latin typeface="Calibri (MS) Bold"/>
                  <a:ea typeface="Calibri (MS) Bold"/>
                  <a:cs typeface="Calibri (MS) Bold"/>
                  <a:sym typeface="Calibri (MS) Bold"/>
                </a:rPr>
                <a:t>Testing &amp; Reports</a:t>
              </a:r>
            </a:p>
          </p:txBody>
        </p:sp>
      </p:grpSp>
      <p:grpSp>
        <p:nvGrpSpPr>
          <p:cNvPr name="Group 37" id="37"/>
          <p:cNvGrpSpPr/>
          <p:nvPr/>
        </p:nvGrpSpPr>
        <p:grpSpPr>
          <a:xfrm rot="0">
            <a:off x="9180004" y="7289997"/>
            <a:ext cx="7560002" cy="1620002"/>
            <a:chOff x="0" y="0"/>
            <a:chExt cx="10080003" cy="2160003"/>
          </a:xfrm>
        </p:grpSpPr>
        <p:sp>
          <p:nvSpPr>
            <p:cNvPr name="Freeform 38" id="38"/>
            <p:cNvSpPr/>
            <p:nvPr/>
          </p:nvSpPr>
          <p:spPr>
            <a:xfrm flipH="false" flipV="false" rot="0">
              <a:off x="0" y="0"/>
              <a:ext cx="10079990" cy="2160016"/>
            </a:xfrm>
            <a:custGeom>
              <a:avLst/>
              <a:gdLst/>
              <a:ahLst/>
              <a:cxnLst/>
              <a:rect r="r" b="b" t="t" l="l"/>
              <a:pathLst>
                <a:path h="2160016" w="10079990">
                  <a:moveTo>
                    <a:pt x="0" y="0"/>
                  </a:moveTo>
                  <a:lnTo>
                    <a:pt x="10079990" y="0"/>
                  </a:lnTo>
                  <a:lnTo>
                    <a:pt x="10079990" y="2160016"/>
                  </a:lnTo>
                  <a:lnTo>
                    <a:pt x="0" y="2160016"/>
                  </a:lnTo>
                  <a:close/>
                </a:path>
              </a:pathLst>
            </a:custGeom>
            <a:solidFill>
              <a:srgbClr val="F7F8FA"/>
            </a:solidFill>
          </p:spPr>
        </p:sp>
        <p:sp>
          <p:nvSpPr>
            <p:cNvPr name="TextBox 39" id="39"/>
            <p:cNvSpPr txBox="true"/>
            <p:nvPr/>
          </p:nvSpPr>
          <p:spPr>
            <a:xfrm>
              <a:off x="0" y="-47625"/>
              <a:ext cx="10080003" cy="2207628"/>
            </a:xfrm>
            <a:prstGeom prst="rect">
              <a:avLst/>
            </a:prstGeom>
          </p:spPr>
          <p:txBody>
            <a:bodyPr anchor="t" rtlCol="false" tIns="50800" lIns="50800" bIns="50800" rIns="50800"/>
            <a:lstStyle/>
            <a:p>
              <a:pPr algn="l">
                <a:lnSpc>
                  <a:spcPts val="2340"/>
                </a:lnSpc>
              </a:pPr>
              <a:r>
                <a:rPr lang="en-US" sz="1950">
                  <a:solidFill>
                    <a:srgbClr val="1F2328"/>
                  </a:solidFill>
                  <a:latin typeface="Calibri (MS)"/>
                  <a:ea typeface="Calibri (MS)"/>
                  <a:cs typeface="Calibri (MS)"/>
                  <a:sym typeface="Calibri (MS)"/>
                </a:rPr>
                <a:t>Unit tests: test_api.py, test_features.py, test_phase1.py</a:t>
              </a:r>
            </a:p>
            <a:p>
              <a:pPr algn="l">
                <a:lnSpc>
                  <a:spcPts val="2340"/>
                </a:lnSpc>
              </a:pPr>
              <a:r>
                <a:rPr lang="en-US" sz="1950">
                  <a:solidFill>
                    <a:srgbClr val="1F2328"/>
                  </a:solidFill>
                  <a:latin typeface="Calibri (MS)"/>
                  <a:ea typeface="Calibri (MS)"/>
                  <a:cs typeface="Calibri (MS)"/>
                  <a:sym typeface="Calibri (MS)"/>
                </a:rPr>
                <a:t>Reports: model_report.md, classification_report.txt</a:t>
              </a:r>
            </a:p>
            <a:p>
              <a:pPr algn="l">
                <a:lnSpc>
                  <a:spcPts val="2340"/>
                </a:lnSpc>
              </a:pPr>
              <a:r>
                <a:rPr lang="en-US" sz="1950">
                  <a:solidFill>
                    <a:srgbClr val="1F2328"/>
                  </a:solidFill>
                  <a:latin typeface="Calibri (MS)"/>
                  <a:ea typeface="Calibri (MS)"/>
                  <a:cs typeface="Calibri (MS)"/>
                  <a:sym typeface="Calibri (MS)"/>
                </a:rPr>
                <a:t>Visuals: confusion_matrix.png, roc_curve.png,</a:t>
              </a:r>
            </a:p>
            <a:p>
              <a:pPr algn="l">
                <a:lnSpc>
                  <a:spcPts val="2340"/>
                </a:lnSpc>
              </a:pPr>
              <a:r>
                <a:rPr lang="en-US" sz="1950">
                  <a:solidFill>
                    <a:srgbClr val="1F2328"/>
                  </a:solidFill>
                  <a:latin typeface="Calibri (MS)"/>
                  <a:ea typeface="Calibri (MS)"/>
                  <a:cs typeface="Calibri (MS)"/>
                  <a:sym typeface="Calibri (MS)"/>
                </a:rPr>
                <a:t>             precision_recall_curve.png, shap_summary_bar.png,</a:t>
              </a:r>
            </a:p>
            <a:p>
              <a:pPr algn="l">
                <a:lnSpc>
                  <a:spcPts val="2340"/>
                </a:lnSpc>
              </a:pPr>
              <a:r>
                <a:rPr lang="en-US" sz="1950">
                  <a:solidFill>
                    <a:srgbClr val="1F2328"/>
                  </a:solidFill>
                  <a:latin typeface="Calibri (MS)"/>
                  <a:ea typeface="Calibri (MS)"/>
                  <a:cs typeface="Calibri (MS)"/>
                  <a:sym typeface="Calibri (MS)"/>
                </a:rPr>
                <a:t>             shap_summary_beeswarm.png</a:t>
              </a:r>
            </a:p>
          </p:txBody>
        </p:sp>
      </p:gr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11 / 12</a:t>
            </a:r>
          </a:p>
        </p:txBody>
      </p:sp>
      <p:sp>
        <p:nvSpPr>
          <p:cNvPr name="TextBox 3" id="3"/>
          <p:cNvSpPr txBox="true"/>
          <p:nvPr/>
        </p:nvSpPr>
        <p:spPr>
          <a:xfrm rot="0">
            <a:off x="901436" y="363417"/>
            <a:ext cx="13857122" cy="886863"/>
          </a:xfrm>
          <a:prstGeom prst="rect">
            <a:avLst/>
          </a:prstGeom>
        </p:spPr>
        <p:txBody>
          <a:bodyPr anchor="t" rtlCol="false" tIns="0" lIns="0" bIns="0" rIns="0">
            <a:spAutoFit/>
          </a:bodyPr>
          <a:lstStyle/>
          <a:p>
            <a:pPr algn="l">
              <a:lnSpc>
                <a:spcPts val="6480"/>
              </a:lnSpc>
            </a:pPr>
            <a:r>
              <a:rPr lang="en-US" sz="5400" b="true">
                <a:solidFill>
                  <a:srgbClr val="1E2761"/>
                </a:solidFill>
                <a:latin typeface="Calibri (MS) Bold"/>
                <a:ea typeface="Calibri (MS) Bold"/>
                <a:cs typeface="Calibri (MS) Bold"/>
                <a:sym typeface="Calibri (MS) Bold"/>
              </a:rPr>
              <a:t>Who Benefits?</a:t>
            </a:r>
          </a:p>
        </p:txBody>
      </p:sp>
      <p:grpSp>
        <p:nvGrpSpPr>
          <p:cNvPr name="Group 4" id="4"/>
          <p:cNvGrpSpPr/>
          <p:nvPr/>
        </p:nvGrpSpPr>
        <p:grpSpPr>
          <a:xfrm rot="0">
            <a:off x="809996" y="1349997"/>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1E2761"/>
            </a:solidFill>
          </p:spPr>
        </p:sp>
      </p:grpSp>
      <p:grpSp>
        <p:nvGrpSpPr>
          <p:cNvPr name="Group 6" id="6"/>
          <p:cNvGrpSpPr/>
          <p:nvPr/>
        </p:nvGrpSpPr>
        <p:grpSpPr>
          <a:xfrm rot="0">
            <a:off x="809996" y="1620002"/>
            <a:ext cx="7289997" cy="1889998"/>
            <a:chOff x="0" y="0"/>
            <a:chExt cx="9719996" cy="2519998"/>
          </a:xfrm>
        </p:grpSpPr>
        <p:sp>
          <p:nvSpPr>
            <p:cNvPr name="Freeform 7" id="7"/>
            <p:cNvSpPr/>
            <p:nvPr/>
          </p:nvSpPr>
          <p:spPr>
            <a:xfrm flipH="false" flipV="false" rot="0">
              <a:off x="0" y="0"/>
              <a:ext cx="9719945" cy="2520061"/>
            </a:xfrm>
            <a:custGeom>
              <a:avLst/>
              <a:gdLst/>
              <a:ahLst/>
              <a:cxnLst/>
              <a:rect r="r" b="b" t="t" l="l"/>
              <a:pathLst>
                <a:path h="2520061" w="9719945">
                  <a:moveTo>
                    <a:pt x="0" y="0"/>
                  </a:moveTo>
                  <a:lnTo>
                    <a:pt x="9719945" y="0"/>
                  </a:lnTo>
                  <a:lnTo>
                    <a:pt x="9719945" y="2520061"/>
                  </a:lnTo>
                  <a:lnTo>
                    <a:pt x="0" y="2520061"/>
                  </a:lnTo>
                  <a:close/>
                </a:path>
              </a:pathLst>
            </a:custGeom>
            <a:solidFill>
              <a:srgbClr val="EBF0FF"/>
            </a:solidFill>
          </p:spPr>
        </p:sp>
        <p:sp>
          <p:nvSpPr>
            <p:cNvPr name="TextBox 8" id="8"/>
            <p:cNvSpPr txBox="true"/>
            <p:nvPr/>
          </p:nvSpPr>
          <p:spPr>
            <a:xfrm>
              <a:off x="0" y="-47625"/>
              <a:ext cx="9719996"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Telecom Companies</a:t>
              </a:r>
            </a:p>
            <a:p>
              <a:pPr algn="l">
                <a:lnSpc>
                  <a:spcPts val="2520"/>
                </a:lnSpc>
              </a:pPr>
            </a:p>
            <a:p>
              <a:pPr algn="l">
                <a:lnSpc>
                  <a:spcPts val="2520"/>
                </a:lnSpc>
              </a:pPr>
              <a:r>
                <a:rPr lang="en-US" sz="2100">
                  <a:solidFill>
                    <a:srgbClr val="1F2328"/>
                  </a:solidFill>
                  <a:latin typeface="Calibri (MS)"/>
                  <a:ea typeface="Calibri (MS)"/>
                  <a:cs typeface="Calibri (MS)"/>
                  <a:sym typeface="Calibri (MS)"/>
                </a:rPr>
                <a:t>Reduce revenue loss — identify at-risk customers before they leave and trigger targeted retention actions</a:t>
              </a:r>
            </a:p>
          </p:txBody>
        </p:sp>
      </p:grpSp>
      <p:grpSp>
        <p:nvGrpSpPr>
          <p:cNvPr name="Group 9" id="9"/>
          <p:cNvGrpSpPr/>
          <p:nvPr/>
        </p:nvGrpSpPr>
        <p:grpSpPr>
          <a:xfrm rot="0">
            <a:off x="8909999" y="1620002"/>
            <a:ext cx="7560002" cy="1889998"/>
            <a:chOff x="0" y="0"/>
            <a:chExt cx="10080003" cy="2519998"/>
          </a:xfrm>
        </p:grpSpPr>
        <p:sp>
          <p:nvSpPr>
            <p:cNvPr name="Freeform 10" id="10"/>
            <p:cNvSpPr/>
            <p:nvPr/>
          </p:nvSpPr>
          <p:spPr>
            <a:xfrm flipH="false" flipV="false" rot="0">
              <a:off x="0" y="0"/>
              <a:ext cx="10079990" cy="2520061"/>
            </a:xfrm>
            <a:custGeom>
              <a:avLst/>
              <a:gdLst/>
              <a:ahLst/>
              <a:cxnLst/>
              <a:rect r="r" b="b" t="t" l="l"/>
              <a:pathLst>
                <a:path h="2520061" w="10079990">
                  <a:moveTo>
                    <a:pt x="0" y="0"/>
                  </a:moveTo>
                  <a:lnTo>
                    <a:pt x="10079990" y="0"/>
                  </a:lnTo>
                  <a:lnTo>
                    <a:pt x="10079990" y="2520061"/>
                  </a:lnTo>
                  <a:lnTo>
                    <a:pt x="0" y="2520061"/>
                  </a:lnTo>
                  <a:close/>
                </a:path>
              </a:pathLst>
            </a:custGeom>
            <a:solidFill>
              <a:srgbClr val="EBF0FF"/>
            </a:solidFill>
          </p:spPr>
        </p:sp>
        <p:sp>
          <p:nvSpPr>
            <p:cNvPr name="TextBox 11" id="11"/>
            <p:cNvSpPr txBox="true"/>
            <p:nvPr/>
          </p:nvSpPr>
          <p:spPr>
            <a:xfrm>
              <a:off x="0" y="-47625"/>
              <a:ext cx="10080003"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Retention &amp; CRM Teams</a:t>
              </a:r>
            </a:p>
            <a:p>
              <a:pPr algn="l">
                <a:lnSpc>
                  <a:spcPts val="2520"/>
                </a:lnSpc>
              </a:pPr>
            </a:p>
            <a:p>
              <a:pPr algn="l">
                <a:lnSpc>
                  <a:spcPts val="2520"/>
                </a:lnSpc>
              </a:pPr>
              <a:r>
                <a:rPr lang="en-US" sz="2100">
                  <a:solidFill>
                    <a:srgbClr val="1F2328"/>
                  </a:solidFill>
                  <a:latin typeface="Calibri (MS)"/>
                  <a:ea typeface="Calibri (MS)"/>
                  <a:cs typeface="Calibri (MS)"/>
                  <a:sym typeface="Calibri (MS)"/>
                </a:rPr>
                <a:t>Get specific WHY explanations per customer via SHAP waterfall — act with precision on the right lever</a:t>
              </a:r>
            </a:p>
          </p:txBody>
        </p:sp>
      </p:grpSp>
      <p:grpSp>
        <p:nvGrpSpPr>
          <p:cNvPr name="Group 12" id="12"/>
          <p:cNvGrpSpPr/>
          <p:nvPr/>
        </p:nvGrpSpPr>
        <p:grpSpPr>
          <a:xfrm rot="0">
            <a:off x="809996" y="3888000"/>
            <a:ext cx="7289997" cy="1889998"/>
            <a:chOff x="0" y="0"/>
            <a:chExt cx="9719996" cy="2519998"/>
          </a:xfrm>
        </p:grpSpPr>
        <p:sp>
          <p:nvSpPr>
            <p:cNvPr name="Freeform 13" id="13"/>
            <p:cNvSpPr/>
            <p:nvPr/>
          </p:nvSpPr>
          <p:spPr>
            <a:xfrm flipH="false" flipV="false" rot="0">
              <a:off x="0" y="0"/>
              <a:ext cx="9719945" cy="2520061"/>
            </a:xfrm>
            <a:custGeom>
              <a:avLst/>
              <a:gdLst/>
              <a:ahLst/>
              <a:cxnLst/>
              <a:rect r="r" b="b" t="t" l="l"/>
              <a:pathLst>
                <a:path h="2520061" w="9719945">
                  <a:moveTo>
                    <a:pt x="0" y="0"/>
                  </a:moveTo>
                  <a:lnTo>
                    <a:pt x="9719945" y="0"/>
                  </a:lnTo>
                  <a:lnTo>
                    <a:pt x="9719945" y="2520061"/>
                  </a:lnTo>
                  <a:lnTo>
                    <a:pt x="0" y="2520061"/>
                  </a:lnTo>
                  <a:close/>
                </a:path>
              </a:pathLst>
            </a:custGeom>
            <a:solidFill>
              <a:srgbClr val="F7F8FA"/>
            </a:solidFill>
          </p:spPr>
        </p:sp>
        <p:sp>
          <p:nvSpPr>
            <p:cNvPr name="TextBox 14" id="14"/>
            <p:cNvSpPr txBox="true"/>
            <p:nvPr/>
          </p:nvSpPr>
          <p:spPr>
            <a:xfrm>
              <a:off x="0" y="-47625"/>
              <a:ext cx="9719996"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Business Analysts</a:t>
              </a:r>
            </a:p>
            <a:p>
              <a:pPr algn="l">
                <a:lnSpc>
                  <a:spcPts val="2520"/>
                </a:lnSpc>
              </a:pPr>
            </a:p>
            <a:p>
              <a:pPr algn="l">
                <a:lnSpc>
                  <a:spcPts val="2520"/>
                </a:lnSpc>
              </a:pPr>
              <a:r>
                <a:rPr lang="en-US" sz="2100">
                  <a:solidFill>
                    <a:srgbClr val="1F2328"/>
                  </a:solidFill>
                  <a:latin typeface="Calibri (MS)"/>
                  <a:ea typeface="Calibri (MS)"/>
                  <a:cs typeface="Calibri (MS)"/>
                  <a:sym typeface="Calibri (MS)"/>
                </a:rPr>
                <a:t>Explore churn patterns in the Streamlit dashboard with sidebar filters — no coding required</a:t>
              </a:r>
            </a:p>
          </p:txBody>
        </p:sp>
      </p:grpSp>
      <p:grpSp>
        <p:nvGrpSpPr>
          <p:cNvPr name="Group 15" id="15"/>
          <p:cNvGrpSpPr/>
          <p:nvPr/>
        </p:nvGrpSpPr>
        <p:grpSpPr>
          <a:xfrm rot="0">
            <a:off x="8909999" y="3888000"/>
            <a:ext cx="7560002" cy="1889998"/>
            <a:chOff x="0" y="0"/>
            <a:chExt cx="10080003" cy="2519998"/>
          </a:xfrm>
        </p:grpSpPr>
        <p:sp>
          <p:nvSpPr>
            <p:cNvPr name="Freeform 16" id="16"/>
            <p:cNvSpPr/>
            <p:nvPr/>
          </p:nvSpPr>
          <p:spPr>
            <a:xfrm flipH="false" flipV="false" rot="0">
              <a:off x="0" y="0"/>
              <a:ext cx="10079990" cy="2520061"/>
            </a:xfrm>
            <a:custGeom>
              <a:avLst/>
              <a:gdLst/>
              <a:ahLst/>
              <a:cxnLst/>
              <a:rect r="r" b="b" t="t" l="l"/>
              <a:pathLst>
                <a:path h="2520061" w="10079990">
                  <a:moveTo>
                    <a:pt x="0" y="0"/>
                  </a:moveTo>
                  <a:lnTo>
                    <a:pt x="10079990" y="0"/>
                  </a:lnTo>
                  <a:lnTo>
                    <a:pt x="10079990" y="2520061"/>
                  </a:lnTo>
                  <a:lnTo>
                    <a:pt x="0" y="2520061"/>
                  </a:lnTo>
                  <a:close/>
                </a:path>
              </a:pathLst>
            </a:custGeom>
            <a:solidFill>
              <a:srgbClr val="F7F8FA"/>
            </a:solidFill>
          </p:spPr>
        </p:sp>
        <p:sp>
          <p:nvSpPr>
            <p:cNvPr name="TextBox 17" id="17"/>
            <p:cNvSpPr txBox="true"/>
            <p:nvPr/>
          </p:nvSpPr>
          <p:spPr>
            <a:xfrm>
              <a:off x="0" y="-47625"/>
              <a:ext cx="10080003"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Data Scientists</a:t>
              </a:r>
            </a:p>
            <a:p>
              <a:pPr algn="l">
                <a:lnSpc>
                  <a:spcPts val="2520"/>
                </a:lnSpc>
              </a:pPr>
            </a:p>
            <a:p>
              <a:pPr algn="l">
                <a:lnSpc>
                  <a:spcPts val="2520"/>
                </a:lnSpc>
              </a:pPr>
              <a:r>
                <a:rPr lang="en-US" sz="2100">
                  <a:solidFill>
                    <a:srgbClr val="1F2328"/>
                  </a:solidFill>
                  <a:latin typeface="Calibri (MS)"/>
                  <a:ea typeface="Calibri (MS)"/>
                  <a:cs typeface="Calibri (MS)"/>
                  <a:sym typeface="Calibri (MS)"/>
                </a:rPr>
                <a:t>Reference architecture for SMOTE + SHAP + proper cross-validation + threshold optimisation in production</a:t>
              </a:r>
            </a:p>
          </p:txBody>
        </p:sp>
      </p:grpSp>
      <p:grpSp>
        <p:nvGrpSpPr>
          <p:cNvPr name="Group 18" id="18"/>
          <p:cNvGrpSpPr/>
          <p:nvPr/>
        </p:nvGrpSpPr>
        <p:grpSpPr>
          <a:xfrm rot="0">
            <a:off x="809996" y="6155998"/>
            <a:ext cx="7289997" cy="1889998"/>
            <a:chOff x="0" y="0"/>
            <a:chExt cx="9719996" cy="2519998"/>
          </a:xfrm>
        </p:grpSpPr>
        <p:sp>
          <p:nvSpPr>
            <p:cNvPr name="Freeform 19" id="19"/>
            <p:cNvSpPr/>
            <p:nvPr/>
          </p:nvSpPr>
          <p:spPr>
            <a:xfrm flipH="false" flipV="false" rot="0">
              <a:off x="0" y="0"/>
              <a:ext cx="9719945" cy="2520061"/>
            </a:xfrm>
            <a:custGeom>
              <a:avLst/>
              <a:gdLst/>
              <a:ahLst/>
              <a:cxnLst/>
              <a:rect r="r" b="b" t="t" l="l"/>
              <a:pathLst>
                <a:path h="2520061" w="9719945">
                  <a:moveTo>
                    <a:pt x="0" y="0"/>
                  </a:moveTo>
                  <a:lnTo>
                    <a:pt x="9719945" y="0"/>
                  </a:lnTo>
                  <a:lnTo>
                    <a:pt x="9719945" y="2520061"/>
                  </a:lnTo>
                  <a:lnTo>
                    <a:pt x="0" y="2520061"/>
                  </a:lnTo>
                  <a:close/>
                </a:path>
              </a:pathLst>
            </a:custGeom>
            <a:solidFill>
              <a:srgbClr val="E8F4EC"/>
            </a:solidFill>
          </p:spPr>
        </p:sp>
        <p:sp>
          <p:nvSpPr>
            <p:cNvPr name="TextBox 20" id="20"/>
            <p:cNvSpPr txBox="true"/>
            <p:nvPr/>
          </p:nvSpPr>
          <p:spPr>
            <a:xfrm>
              <a:off x="0" y="-47625"/>
              <a:ext cx="9719996"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Smaller Telecom Providers</a:t>
              </a:r>
            </a:p>
            <a:p>
              <a:pPr algn="l">
                <a:lnSpc>
                  <a:spcPts val="2520"/>
                </a:lnSpc>
              </a:pPr>
            </a:p>
            <a:p>
              <a:pPr algn="l">
                <a:lnSpc>
                  <a:spcPts val="2520"/>
                </a:lnSpc>
              </a:pPr>
              <a:r>
                <a:rPr lang="en-US" sz="2100">
                  <a:solidFill>
                    <a:srgbClr val="1F2328"/>
                  </a:solidFill>
                  <a:latin typeface="Calibri (MS)"/>
                  <a:ea typeface="Calibri (MS)"/>
                  <a:cs typeface="Calibri (MS)"/>
                  <a:sym typeface="Calibri (MS)"/>
                </a:rPr>
                <a:t>Adopt this open-source Docker system — no large in-house data team required to run it</a:t>
              </a:r>
            </a:p>
          </p:txBody>
        </p:sp>
      </p:grpSp>
      <p:grpSp>
        <p:nvGrpSpPr>
          <p:cNvPr name="Group 21" id="21"/>
          <p:cNvGrpSpPr/>
          <p:nvPr/>
        </p:nvGrpSpPr>
        <p:grpSpPr>
          <a:xfrm rot="0">
            <a:off x="8909999" y="6155998"/>
            <a:ext cx="7560002" cy="1889998"/>
            <a:chOff x="0" y="0"/>
            <a:chExt cx="10080003" cy="2519998"/>
          </a:xfrm>
        </p:grpSpPr>
        <p:sp>
          <p:nvSpPr>
            <p:cNvPr name="Freeform 22" id="22"/>
            <p:cNvSpPr/>
            <p:nvPr/>
          </p:nvSpPr>
          <p:spPr>
            <a:xfrm flipH="false" flipV="false" rot="0">
              <a:off x="0" y="0"/>
              <a:ext cx="10079990" cy="2520061"/>
            </a:xfrm>
            <a:custGeom>
              <a:avLst/>
              <a:gdLst/>
              <a:ahLst/>
              <a:cxnLst/>
              <a:rect r="r" b="b" t="t" l="l"/>
              <a:pathLst>
                <a:path h="2520061" w="10079990">
                  <a:moveTo>
                    <a:pt x="0" y="0"/>
                  </a:moveTo>
                  <a:lnTo>
                    <a:pt x="10079990" y="0"/>
                  </a:lnTo>
                  <a:lnTo>
                    <a:pt x="10079990" y="2520061"/>
                  </a:lnTo>
                  <a:lnTo>
                    <a:pt x="0" y="2520061"/>
                  </a:lnTo>
                  <a:close/>
                </a:path>
              </a:pathLst>
            </a:custGeom>
            <a:solidFill>
              <a:srgbClr val="E8F4EC"/>
            </a:solidFill>
          </p:spPr>
        </p:sp>
        <p:sp>
          <p:nvSpPr>
            <p:cNvPr name="TextBox 23" id="23"/>
            <p:cNvSpPr txBox="true"/>
            <p:nvPr/>
          </p:nvSpPr>
          <p:spPr>
            <a:xfrm>
              <a:off x="0" y="-47625"/>
              <a:ext cx="10080003" cy="2567623"/>
            </a:xfrm>
            <a:prstGeom prst="rect">
              <a:avLst/>
            </a:prstGeom>
          </p:spPr>
          <p:txBody>
            <a:bodyPr anchor="t" rtlCol="false" tIns="50800" lIns="50800" bIns="50800" rIns="50800"/>
            <a:lstStyle/>
            <a:p>
              <a:pPr algn="l">
                <a:lnSpc>
                  <a:spcPts val="2520"/>
                </a:lnSpc>
              </a:pPr>
              <a:r>
                <a:rPr lang="en-US" sz="2100">
                  <a:solidFill>
                    <a:srgbClr val="1F2328"/>
                  </a:solidFill>
                  <a:latin typeface="Calibri (MS)"/>
                  <a:ea typeface="Calibri (MS)"/>
                  <a:cs typeface="Calibri (MS)"/>
                  <a:sym typeface="Calibri (MS)"/>
                </a:rPr>
                <a:t>Customers (Indirect)</a:t>
              </a:r>
            </a:p>
            <a:p>
              <a:pPr algn="l">
                <a:lnSpc>
                  <a:spcPts val="2520"/>
                </a:lnSpc>
              </a:pPr>
            </a:p>
            <a:p>
              <a:pPr algn="l">
                <a:lnSpc>
                  <a:spcPts val="2520"/>
                </a:lnSpc>
              </a:pPr>
              <a:r>
                <a:rPr lang="en-US" sz="2100">
                  <a:solidFill>
                    <a:srgbClr val="1F2328"/>
                  </a:solidFill>
                  <a:latin typeface="Calibri (MS)"/>
                  <a:ea typeface="Calibri (MS)"/>
                  <a:cs typeface="Calibri (MS)"/>
                  <a:sym typeface="Calibri (MS)"/>
                </a:rPr>
                <a:t>Companies that understand WHY customers leave fix root causes — better service quality, better pricing</a:t>
              </a:r>
            </a:p>
          </p:txBody>
        </p:sp>
      </p:grpSp>
      <p:grpSp>
        <p:nvGrpSpPr>
          <p:cNvPr name="Group 24" id="24"/>
          <p:cNvGrpSpPr/>
          <p:nvPr/>
        </p:nvGrpSpPr>
        <p:grpSpPr>
          <a:xfrm rot="0">
            <a:off x="809996" y="8262004"/>
            <a:ext cx="15659995" cy="593998"/>
            <a:chOff x="0" y="0"/>
            <a:chExt cx="20879994" cy="791997"/>
          </a:xfrm>
        </p:grpSpPr>
        <p:sp>
          <p:nvSpPr>
            <p:cNvPr name="Freeform 25" id="25"/>
            <p:cNvSpPr/>
            <p:nvPr/>
          </p:nvSpPr>
          <p:spPr>
            <a:xfrm flipH="false" flipV="false" rot="0">
              <a:off x="0" y="0"/>
              <a:ext cx="20879943" cy="791972"/>
            </a:xfrm>
            <a:custGeom>
              <a:avLst/>
              <a:gdLst/>
              <a:ahLst/>
              <a:cxnLst/>
              <a:rect r="r" b="b" t="t" l="l"/>
              <a:pathLst>
                <a:path h="791972" w="20879943">
                  <a:moveTo>
                    <a:pt x="0" y="0"/>
                  </a:moveTo>
                  <a:lnTo>
                    <a:pt x="20879943" y="0"/>
                  </a:lnTo>
                  <a:lnTo>
                    <a:pt x="20879943" y="791972"/>
                  </a:lnTo>
                  <a:lnTo>
                    <a:pt x="0" y="791972"/>
                  </a:lnTo>
                  <a:close/>
                </a:path>
              </a:pathLst>
            </a:custGeom>
            <a:solidFill>
              <a:srgbClr val="E8F4EC"/>
            </a:solidFill>
          </p:spPr>
        </p:sp>
        <p:sp>
          <p:nvSpPr>
            <p:cNvPr name="TextBox 26" id="26"/>
            <p:cNvSpPr txBox="true"/>
            <p:nvPr/>
          </p:nvSpPr>
          <p:spPr>
            <a:xfrm>
              <a:off x="0" y="-47625"/>
              <a:ext cx="20879994" cy="839622"/>
            </a:xfrm>
            <a:prstGeom prst="rect">
              <a:avLst/>
            </a:prstGeom>
          </p:spPr>
          <p:txBody>
            <a:bodyPr anchor="t" rtlCol="false" tIns="50800" lIns="50800" bIns="50800" rIns="50800"/>
            <a:lstStyle/>
            <a:p>
              <a:pPr algn="l">
                <a:lnSpc>
                  <a:spcPts val="2340"/>
                </a:lnSpc>
              </a:pPr>
              <a:r>
                <a:rPr lang="en-US" sz="1950" b="true">
                  <a:solidFill>
                    <a:srgbClr val="1B5E35"/>
                  </a:solidFill>
                  <a:latin typeface="Calibri (MS) Bold"/>
                  <a:ea typeface="Calibri (MS) Bold"/>
                  <a:cs typeface="Calibri (MS) Bold"/>
                  <a:sym typeface="Calibri (MS) Bold"/>
                </a:rPr>
                <a:t>SDG 9 — Industry, Innovation &amp; Infrastructure: Responsible AI embedded in production telecom infrastructure</a:t>
              </a:r>
            </a:p>
          </p:txBody>
        </p:sp>
      </p:grpSp>
    </p:spTree>
  </p:cSld>
  <p:clrMapOvr>
    <a:masterClrMapping/>
  </p:clrMapOvr>
</p:sld>
</file>

<file path=ppt/slides/slide18.xml><?xml version="1.0" encoding="utf-8"?>
<p:sld xmlns:p="http://schemas.openxmlformats.org/presentationml/2006/main" xmlns:a="http://schemas.openxmlformats.org/drawingml/2006/main">
  <p:cSld>
    <p:bg>
      <p:bgPr>
        <a:solidFill>
          <a:srgbClr val="1E2761"/>
        </a:solidFill>
      </p:bgPr>
    </p:bg>
    <p:spTree>
      <p:nvGrpSpPr>
        <p:cNvPr id="1" name=""/>
        <p:cNvGrpSpPr/>
        <p:nvPr/>
      </p:nvGrpSpPr>
      <p:grpSpPr>
        <a:xfrm>
          <a:off x="0" y="0"/>
          <a:ext cx="0" cy="0"/>
          <a:chOff x="0" y="0"/>
          <a:chExt cx="0" cy="0"/>
        </a:xfrm>
      </p:grpSpPr>
      <p:sp>
        <p:nvSpPr>
          <p:cNvPr name="TextBox 2" id="2"/>
          <p:cNvSpPr txBox="true"/>
          <p:nvPr/>
        </p:nvSpPr>
        <p:spPr>
          <a:xfrm rot="0">
            <a:off x="15211444" y="233143"/>
            <a:ext cx="1977123" cy="369132"/>
          </a:xfrm>
          <a:prstGeom prst="rect">
            <a:avLst/>
          </a:prstGeom>
        </p:spPr>
        <p:txBody>
          <a:bodyPr anchor="t" rtlCol="false" tIns="0" lIns="0" bIns="0" rIns="0">
            <a:spAutoFit/>
          </a:bodyPr>
          <a:lstStyle/>
          <a:p>
            <a:pPr algn="l">
              <a:lnSpc>
                <a:spcPts val="1980"/>
              </a:lnSpc>
            </a:pPr>
            <a:r>
              <a:rPr lang="en-US" sz="1650">
                <a:solidFill>
                  <a:srgbClr val="8B9AAD"/>
                </a:solidFill>
                <a:latin typeface="Calibri (MS)"/>
                <a:ea typeface="Calibri (MS)"/>
                <a:cs typeface="Calibri (MS)"/>
                <a:sym typeface="Calibri (MS)"/>
              </a:rPr>
              <a:t>12 / 12</a:t>
            </a:r>
          </a:p>
        </p:txBody>
      </p:sp>
      <p:sp>
        <p:nvSpPr>
          <p:cNvPr name="TextBox 3" id="3"/>
          <p:cNvSpPr txBox="true"/>
          <p:nvPr/>
        </p:nvSpPr>
        <p:spPr>
          <a:xfrm rot="0">
            <a:off x="901436" y="363417"/>
            <a:ext cx="15477115" cy="994858"/>
          </a:xfrm>
          <a:prstGeom prst="rect">
            <a:avLst/>
          </a:prstGeom>
        </p:spPr>
        <p:txBody>
          <a:bodyPr anchor="t" rtlCol="false" tIns="0" lIns="0" bIns="0" rIns="0">
            <a:spAutoFit/>
          </a:bodyPr>
          <a:lstStyle/>
          <a:p>
            <a:pPr algn="l">
              <a:lnSpc>
                <a:spcPts val="6480"/>
              </a:lnSpc>
            </a:pPr>
            <a:r>
              <a:rPr lang="en-US" sz="5400" b="true">
                <a:solidFill>
                  <a:srgbClr val="FFFFFF"/>
                </a:solidFill>
                <a:latin typeface="Calibri (MS) Bold"/>
                <a:ea typeface="Calibri (MS) Bold"/>
                <a:cs typeface="Calibri (MS) Bold"/>
                <a:sym typeface="Calibri (MS) Bold"/>
              </a:rPr>
              <a:t>Conclusion &amp; Key Takeaways</a:t>
            </a:r>
          </a:p>
        </p:txBody>
      </p:sp>
      <p:grpSp>
        <p:nvGrpSpPr>
          <p:cNvPr name="Group 4" id="4"/>
          <p:cNvGrpSpPr/>
          <p:nvPr/>
        </p:nvGrpSpPr>
        <p:grpSpPr>
          <a:xfrm rot="0">
            <a:off x="809996" y="1458001"/>
            <a:ext cx="16199996" cy="43196"/>
            <a:chOff x="0" y="0"/>
            <a:chExt cx="21599995" cy="57594"/>
          </a:xfrm>
        </p:grpSpPr>
        <p:sp>
          <p:nvSpPr>
            <p:cNvPr name="Freeform 5" id="5"/>
            <p:cNvSpPr/>
            <p:nvPr/>
          </p:nvSpPr>
          <p:spPr>
            <a:xfrm flipH="false" flipV="false" rot="0">
              <a:off x="0" y="0"/>
              <a:ext cx="21600033" cy="57658"/>
            </a:xfrm>
            <a:custGeom>
              <a:avLst/>
              <a:gdLst/>
              <a:ahLst/>
              <a:cxnLst/>
              <a:rect r="r" b="b" t="t" l="l"/>
              <a:pathLst>
                <a:path h="57658" w="21600033">
                  <a:moveTo>
                    <a:pt x="0" y="0"/>
                  </a:moveTo>
                  <a:lnTo>
                    <a:pt x="21600033" y="0"/>
                  </a:lnTo>
                  <a:lnTo>
                    <a:pt x="21600033" y="57658"/>
                  </a:lnTo>
                  <a:lnTo>
                    <a:pt x="0" y="57658"/>
                  </a:lnTo>
                  <a:close/>
                </a:path>
              </a:pathLst>
            </a:custGeom>
            <a:solidFill>
              <a:srgbClr val="A8C4F0"/>
            </a:solidFill>
          </p:spPr>
        </p:sp>
      </p:grpSp>
      <p:sp>
        <p:nvSpPr>
          <p:cNvPr name="TextBox 6" id="6"/>
          <p:cNvSpPr txBox="true"/>
          <p:nvPr/>
        </p:nvSpPr>
        <p:spPr>
          <a:xfrm rot="0">
            <a:off x="901436" y="1627622"/>
            <a:ext cx="15477115" cy="702659"/>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SMOTE corrects class imbalance — Gradient Boosting achieves F1=0.632, ROC-AUC=0.836, Recall=0.746 at threshold 0.33</a:t>
            </a:r>
          </a:p>
        </p:txBody>
      </p:sp>
      <p:sp>
        <p:nvSpPr>
          <p:cNvPr name="TextBox 7" id="7"/>
          <p:cNvSpPr txBox="true"/>
          <p:nvPr/>
        </p:nvSpPr>
        <p:spPr>
          <a:xfrm rot="0">
            <a:off x="901436" y="2491616"/>
            <a:ext cx="15477115" cy="702659"/>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SHAP makes every prediction explainable — globally (bar + beeswarm) and per customer (waterfall), served via live /explain API</a:t>
            </a:r>
          </a:p>
        </p:txBody>
      </p:sp>
      <p:sp>
        <p:nvSpPr>
          <p:cNvPr name="TextBox 8" id="8"/>
          <p:cNvSpPr txBox="true"/>
          <p:nvPr/>
        </p:nvSpPr>
        <p:spPr>
          <a:xfrm rot="0">
            <a:off x="901436" y="3355619"/>
            <a:ext cx="15477115" cy="702659"/>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Top churn driver: Month-to-month contract (SHAP=0.776) — directly actionable by retention teams as a contract upgrade offer</a:t>
            </a:r>
          </a:p>
        </p:txBody>
      </p:sp>
      <p:sp>
        <p:nvSpPr>
          <p:cNvPr name="TextBox 9" id="9"/>
          <p:cNvSpPr txBox="true"/>
          <p:nvPr/>
        </p:nvSpPr>
        <p:spPr>
          <a:xfrm rot="0">
            <a:off x="901436" y="4219623"/>
            <a:ext cx="15477115" cy="702659"/>
          </a:xfrm>
          <a:prstGeom prst="rect">
            <a:avLst/>
          </a:prstGeom>
        </p:spPr>
        <p:txBody>
          <a:bodyPr anchor="t" rtlCol="false" tIns="0" lIns="0" bIns="0" rIns="0">
            <a:spAutoFit/>
          </a:bodyPr>
          <a:lstStyle/>
          <a:p>
            <a:pPr algn="l">
              <a:lnSpc>
                <a:spcPts val="2879"/>
              </a:lnSpc>
            </a:pPr>
            <a:r>
              <a:rPr lang="en-US" sz="2400">
                <a:solidFill>
                  <a:srgbClr val="FFFFFF"/>
                </a:solidFill>
                <a:latin typeface="Calibri (MS)"/>
                <a:ea typeface="Calibri (MS)"/>
                <a:cs typeface="Calibri (MS)"/>
                <a:sym typeface="Calibri (MS)"/>
              </a:rPr>
              <a:t>Production-ready: FastAPI v2.0 + Streamlit 5-tab dashboard + Docker Compose + PostgreSQL — deployable by any telecom operator</a:t>
            </a:r>
          </a:p>
        </p:txBody>
      </p:sp>
      <p:sp>
        <p:nvSpPr>
          <p:cNvPr name="TextBox 10" id="10"/>
          <p:cNvSpPr txBox="true"/>
          <p:nvPr/>
        </p:nvSpPr>
        <p:spPr>
          <a:xfrm rot="0">
            <a:off x="901436" y="5172570"/>
            <a:ext cx="15477115" cy="451714"/>
          </a:xfrm>
          <a:prstGeom prst="rect">
            <a:avLst/>
          </a:prstGeom>
        </p:spPr>
        <p:txBody>
          <a:bodyPr anchor="t" rtlCol="false" tIns="0" lIns="0" bIns="0" rIns="0">
            <a:spAutoFit/>
          </a:bodyPr>
          <a:lstStyle/>
          <a:p>
            <a:pPr algn="l">
              <a:lnSpc>
                <a:spcPts val="3240"/>
              </a:lnSpc>
            </a:pPr>
            <a:r>
              <a:rPr lang="en-US" sz="2700" b="true">
                <a:solidFill>
                  <a:srgbClr val="A8C4F0"/>
                </a:solidFill>
                <a:latin typeface="Calibri (MS) Bold"/>
                <a:ea typeface="Calibri (MS) Bold"/>
                <a:cs typeface="Calibri (MS) Bold"/>
                <a:sym typeface="Calibri (MS) Bold"/>
              </a:rPr>
              <a:t>Future Work</a:t>
            </a:r>
          </a:p>
        </p:txBody>
      </p:sp>
      <p:sp>
        <p:nvSpPr>
          <p:cNvPr name="TextBox 11" id="11"/>
          <p:cNvSpPr txBox="true"/>
          <p:nvPr/>
        </p:nvSpPr>
        <p:spPr>
          <a:xfrm rot="0">
            <a:off x="901436" y="5712571"/>
            <a:ext cx="15477115" cy="1855708"/>
          </a:xfrm>
          <a:prstGeom prst="rect">
            <a:avLst/>
          </a:prstGeom>
        </p:spPr>
        <p:txBody>
          <a:bodyPr anchor="t" rtlCol="false" tIns="0" lIns="0" bIns="0" rIns="0">
            <a:spAutoFit/>
          </a:bodyPr>
          <a:lstStyle/>
          <a:p>
            <a:pPr algn="l">
              <a:lnSpc>
                <a:spcPts val="2700"/>
              </a:lnSpc>
            </a:pPr>
            <a:r>
              <a:rPr lang="en-US" sz="2250">
                <a:solidFill>
                  <a:srgbClr val="D0E4FF"/>
                </a:solidFill>
                <a:latin typeface="Calibri (MS)"/>
                <a:ea typeface="Calibri (MS)"/>
                <a:cs typeface="Calibri (MS)"/>
                <a:sym typeface="Calibri (MS)"/>
              </a:rPr>
              <a:t>Real-time streaming data integration (Kafka / Flink)</a:t>
            </a:r>
          </a:p>
          <a:p>
            <a:pPr algn="l">
              <a:lnSpc>
                <a:spcPts val="2700"/>
              </a:lnSpc>
            </a:pPr>
            <a:r>
              <a:rPr lang="en-US" sz="2250">
                <a:solidFill>
                  <a:srgbClr val="D0E4FF"/>
                </a:solidFill>
                <a:latin typeface="Calibri (MS)"/>
                <a:ea typeface="Calibri (MS)"/>
                <a:cs typeface="Calibri (MS)"/>
                <a:sym typeface="Calibri (MS)"/>
              </a:rPr>
              <a:t>LLM-generated retention recommendations per customer</a:t>
            </a:r>
          </a:p>
          <a:p>
            <a:pPr algn="l">
              <a:lnSpc>
                <a:spcPts val="2700"/>
              </a:lnSpc>
            </a:pPr>
            <a:r>
              <a:rPr lang="en-US" sz="2250">
                <a:solidFill>
                  <a:srgbClr val="D0E4FF"/>
                </a:solidFill>
                <a:latin typeface="Calibri (MS)"/>
                <a:ea typeface="Calibri (MS)"/>
                <a:cs typeface="Calibri (MS)"/>
                <a:sym typeface="Calibri (MS)"/>
              </a:rPr>
              <a:t>Multi-dataset generalisation beyond Telco</a:t>
            </a:r>
          </a:p>
          <a:p>
            <a:pPr algn="l">
              <a:lnSpc>
                <a:spcPts val="2700"/>
              </a:lnSpc>
            </a:pPr>
            <a:r>
              <a:rPr lang="en-US" sz="2250">
                <a:solidFill>
                  <a:srgbClr val="D0E4FF"/>
                </a:solidFill>
                <a:latin typeface="Calibri (MS)"/>
                <a:ea typeface="Calibri (MS)"/>
                <a:cs typeface="Calibri (MS)"/>
                <a:sym typeface="Calibri (MS)"/>
              </a:rPr>
              <a:t>Online learning — model retrains as new data arrives</a:t>
            </a:r>
          </a:p>
          <a:p>
            <a:pPr algn="l">
              <a:lnSpc>
                <a:spcPts val="2700"/>
              </a:lnSpc>
            </a:pPr>
            <a:r>
              <a:rPr lang="en-US" sz="2250">
                <a:solidFill>
                  <a:srgbClr val="D0E4FF"/>
                </a:solidFill>
                <a:latin typeface="Calibri (MS)"/>
                <a:ea typeface="Calibri (MS)"/>
                <a:cs typeface="Calibri (MS)"/>
                <a:sym typeface="Calibri (MS)"/>
              </a:rPr>
              <a:t>A/B testing framework for retention intervention strategies</a:t>
            </a:r>
          </a:p>
        </p:txBody>
      </p:sp>
      <p:sp>
        <p:nvSpPr>
          <p:cNvPr name="TextBox 12" id="12"/>
          <p:cNvSpPr txBox="true"/>
          <p:nvPr/>
        </p:nvSpPr>
        <p:spPr>
          <a:xfrm rot="0">
            <a:off x="901436" y="7672473"/>
            <a:ext cx="7917123" cy="759809"/>
          </a:xfrm>
          <a:prstGeom prst="rect">
            <a:avLst/>
          </a:prstGeom>
        </p:spPr>
        <p:txBody>
          <a:bodyPr anchor="t" rtlCol="false" tIns="0" lIns="0" bIns="0" rIns="0">
            <a:spAutoFit/>
          </a:bodyPr>
          <a:lstStyle/>
          <a:p>
            <a:pPr algn="l">
              <a:lnSpc>
                <a:spcPts val="5400"/>
              </a:lnSpc>
            </a:pPr>
            <a:r>
              <a:rPr lang="en-US" sz="4500" b="true">
                <a:solidFill>
                  <a:srgbClr val="FFFFFF"/>
                </a:solidFill>
                <a:latin typeface="Calibri (MS) Bold"/>
                <a:ea typeface="Calibri (MS) Bold"/>
                <a:cs typeface="Calibri (MS) Bold"/>
                <a:sym typeface="Calibri (MS) Bold"/>
              </a:rPr>
              <a:t>Thank You</a:t>
            </a:r>
          </a:p>
        </p:txBody>
      </p:sp>
      <p:sp>
        <p:nvSpPr>
          <p:cNvPr name="TextBox 13" id="13"/>
          <p:cNvSpPr txBox="true"/>
          <p:nvPr/>
        </p:nvSpPr>
        <p:spPr>
          <a:xfrm rot="0">
            <a:off x="901436" y="8530095"/>
            <a:ext cx="15477115" cy="496186"/>
          </a:xfrm>
          <a:prstGeom prst="rect">
            <a:avLst/>
          </a:prstGeom>
        </p:spPr>
        <p:txBody>
          <a:bodyPr anchor="t" rtlCol="false" tIns="0" lIns="0" bIns="0" rIns="0">
            <a:spAutoFit/>
          </a:bodyPr>
          <a:lstStyle/>
          <a:p>
            <a:pPr algn="l">
              <a:lnSpc>
                <a:spcPts val="2340"/>
              </a:lnSpc>
            </a:pPr>
            <a:r>
              <a:rPr lang="en-US" sz="1950">
                <a:solidFill>
                  <a:srgbClr val="8BAED4"/>
                </a:solidFill>
                <a:latin typeface="Calibri (MS)"/>
                <a:ea typeface="Calibri (MS)"/>
                <a:cs typeface="Calibri (MS)"/>
                <a:sym typeface="Calibri (MS)"/>
              </a:rPr>
              <a:t>Owais Mohammed   |   owaismohammed203@gmail.com   |   github.com/owais756   |   linkedin.com/in/owais-mohammed-1ab936319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DAHXfgGkYQc</dc:identifier>
  <dcterms:modified xsi:type="dcterms:W3CDTF">2011-08-01T06:04:30Z</dcterms:modified>
  <cp:revision>1</cp:revision>
  <dc:title>Customer_Churn_Prediction_Presentation.pptx</dc:title>
</cp:coreProperties>
</file>